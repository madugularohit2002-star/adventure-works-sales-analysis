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0"/>
  </p:notesMasterIdLst>
  <p:sldIdLst>
    <p:sldId id="257" r:id="rId2"/>
    <p:sldId id="258" r:id="rId3"/>
    <p:sldId id="259" r:id="rId4"/>
    <p:sldId id="260" r:id="rId5"/>
    <p:sldId id="261" r:id="rId6"/>
    <p:sldId id="262" r:id="rId7"/>
    <p:sldId id="263" r:id="rId8"/>
    <p:sldId id="264" r:id="rId9"/>
    <p:sldId id="265" r:id="rId10"/>
    <p:sldId id="274"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CCC3F4-9435-418C-9DD0-2A10ACE13B49}" type="doc">
      <dgm:prSet loTypeId="urn:microsoft.com/office/officeart/2005/8/layout/cycle5" loCatId="cycle" qsTypeId="urn:microsoft.com/office/officeart/2009/2/quickstyle/3d8" qsCatId="3D" csTypeId="urn:microsoft.com/office/officeart/2005/8/colors/colorful1" csCatId="colorful" phldr="1"/>
      <dgm:spPr/>
      <dgm:t>
        <a:bodyPr/>
        <a:lstStyle/>
        <a:p>
          <a:endParaRPr lang="en-IN"/>
        </a:p>
      </dgm:t>
    </dgm:pt>
    <dgm:pt modelId="{632C66DD-D946-4FE3-99FB-2B4ACA4F8ABD}">
      <dgm:prSet phldrT="[Text]"/>
      <dgm:spPr/>
      <dgm:t>
        <a:bodyPr/>
        <a:lstStyle/>
        <a:p>
          <a:r>
            <a:rPr lang="en-US" dirty="0"/>
            <a:t>Profit Margin: 41%</a:t>
          </a:r>
          <a:endParaRPr lang="en-IN" dirty="0"/>
        </a:p>
      </dgm:t>
    </dgm:pt>
    <dgm:pt modelId="{DF4428F6-B638-480A-AAA8-E81D917167A5}" type="parTrans" cxnId="{44C70062-C47C-4EB4-A434-419C0D8B2079}">
      <dgm:prSet/>
      <dgm:spPr/>
      <dgm:t>
        <a:bodyPr/>
        <a:lstStyle/>
        <a:p>
          <a:endParaRPr lang="en-IN"/>
        </a:p>
      </dgm:t>
    </dgm:pt>
    <dgm:pt modelId="{C7A4C8D1-88D8-433F-86F8-FE79F7E956A3}" type="sibTrans" cxnId="{44C70062-C47C-4EB4-A434-419C0D8B2079}">
      <dgm:prSet/>
      <dgm:spPr/>
      <dgm:t>
        <a:bodyPr/>
        <a:lstStyle/>
        <a:p>
          <a:endParaRPr lang="en-IN"/>
        </a:p>
      </dgm:t>
    </dgm:pt>
    <dgm:pt modelId="{BB44F0C1-B456-42D0-8699-A660340D91EB}">
      <dgm:prSet phldrT="[Text]"/>
      <dgm:spPr/>
      <dgm:t>
        <a:bodyPr/>
        <a:lstStyle/>
        <a:p>
          <a:r>
            <a:rPr lang="en-US" dirty="0"/>
            <a:t>Total Orders: 60,398</a:t>
          </a:r>
          <a:endParaRPr lang="en-IN" dirty="0"/>
        </a:p>
      </dgm:t>
    </dgm:pt>
    <dgm:pt modelId="{21681036-CFE2-4B31-B2FE-758456ACC972}" type="parTrans" cxnId="{89444A67-076D-4AE8-86D3-8E7C4C617CAD}">
      <dgm:prSet/>
      <dgm:spPr/>
      <dgm:t>
        <a:bodyPr/>
        <a:lstStyle/>
        <a:p>
          <a:endParaRPr lang="en-IN"/>
        </a:p>
      </dgm:t>
    </dgm:pt>
    <dgm:pt modelId="{632F1BE0-3F1B-4681-922B-66ADE576F9F1}" type="sibTrans" cxnId="{89444A67-076D-4AE8-86D3-8E7C4C617CAD}">
      <dgm:prSet/>
      <dgm:spPr/>
      <dgm:t>
        <a:bodyPr/>
        <a:lstStyle/>
        <a:p>
          <a:endParaRPr lang="en-IN"/>
        </a:p>
      </dgm:t>
    </dgm:pt>
    <dgm:pt modelId="{B160222C-2C9F-4780-9235-38364A48AEF9}">
      <dgm:prSet phldrT="[Text]"/>
      <dgm:spPr/>
      <dgm:t>
        <a:bodyPr/>
        <a:lstStyle/>
        <a:p>
          <a:r>
            <a:rPr lang="en-US" dirty="0"/>
            <a:t>Total Profit: ₹12.08M</a:t>
          </a:r>
          <a:endParaRPr lang="en-IN" dirty="0"/>
        </a:p>
      </dgm:t>
    </dgm:pt>
    <dgm:pt modelId="{8F23DE16-B08A-4DA5-95FF-399BA2447A6B}" type="parTrans" cxnId="{C0612BD3-69C8-4D36-AEF8-5371DEB8BD19}">
      <dgm:prSet/>
      <dgm:spPr/>
      <dgm:t>
        <a:bodyPr/>
        <a:lstStyle/>
        <a:p>
          <a:endParaRPr lang="en-IN"/>
        </a:p>
      </dgm:t>
    </dgm:pt>
    <dgm:pt modelId="{3EBF0A1C-167C-44FE-A287-89D85A9C0FF3}" type="sibTrans" cxnId="{C0612BD3-69C8-4D36-AEF8-5371DEB8BD19}">
      <dgm:prSet/>
      <dgm:spPr/>
      <dgm:t>
        <a:bodyPr/>
        <a:lstStyle/>
        <a:p>
          <a:endParaRPr lang="en-IN"/>
        </a:p>
      </dgm:t>
    </dgm:pt>
    <dgm:pt modelId="{5D70F007-3C7D-4224-894C-5866430BC13E}">
      <dgm:prSet phldrT="[Text]"/>
      <dgm:spPr/>
      <dgm:t>
        <a:bodyPr/>
        <a:lstStyle/>
        <a:p>
          <a:r>
            <a:rPr lang="en-US" dirty="0"/>
            <a:t>Total Sales: ₹29.36M</a:t>
          </a:r>
          <a:endParaRPr lang="en-IN" dirty="0"/>
        </a:p>
      </dgm:t>
    </dgm:pt>
    <dgm:pt modelId="{5010E685-8A27-42C1-AA71-6258BFB008D3}" type="parTrans" cxnId="{3F08E5FF-7365-4EBB-A7AB-BC0BCE248796}">
      <dgm:prSet/>
      <dgm:spPr/>
      <dgm:t>
        <a:bodyPr/>
        <a:lstStyle/>
        <a:p>
          <a:endParaRPr lang="en-IN"/>
        </a:p>
      </dgm:t>
    </dgm:pt>
    <dgm:pt modelId="{4422463B-3BEE-4D60-9597-5CC2B006E668}" type="sibTrans" cxnId="{3F08E5FF-7365-4EBB-A7AB-BC0BCE248796}">
      <dgm:prSet/>
      <dgm:spPr/>
      <dgm:t>
        <a:bodyPr/>
        <a:lstStyle/>
        <a:p>
          <a:endParaRPr lang="en-IN"/>
        </a:p>
      </dgm:t>
    </dgm:pt>
    <dgm:pt modelId="{C61FD2EE-5CF5-4AD9-8D06-208A9ACDFC3F}">
      <dgm:prSet/>
      <dgm:spPr/>
      <dgm:t>
        <a:bodyPr/>
        <a:lstStyle/>
        <a:p>
          <a:r>
            <a:rPr lang="en-US"/>
            <a:t>Total Cost: ₹17.27M</a:t>
          </a:r>
          <a:endParaRPr lang="en-US" dirty="0"/>
        </a:p>
      </dgm:t>
    </dgm:pt>
    <dgm:pt modelId="{26FC13E3-1FC7-4DE5-BE7F-64066FB04655}" type="parTrans" cxnId="{678B4E75-FF11-4DBA-8A88-9ECE809F8862}">
      <dgm:prSet/>
      <dgm:spPr/>
      <dgm:t>
        <a:bodyPr/>
        <a:lstStyle/>
        <a:p>
          <a:endParaRPr lang="en-IN"/>
        </a:p>
      </dgm:t>
    </dgm:pt>
    <dgm:pt modelId="{A1E039D7-48FC-40D8-A2EC-16A2F959D0C1}" type="sibTrans" cxnId="{678B4E75-FF11-4DBA-8A88-9ECE809F8862}">
      <dgm:prSet/>
      <dgm:spPr/>
      <dgm:t>
        <a:bodyPr/>
        <a:lstStyle/>
        <a:p>
          <a:endParaRPr lang="en-IN"/>
        </a:p>
      </dgm:t>
    </dgm:pt>
    <dgm:pt modelId="{0100BEC4-ABFC-4330-94C9-E84109475486}" type="pres">
      <dgm:prSet presAssocID="{75CCC3F4-9435-418C-9DD0-2A10ACE13B49}" presName="cycle" presStyleCnt="0">
        <dgm:presLayoutVars>
          <dgm:dir/>
          <dgm:resizeHandles val="exact"/>
        </dgm:presLayoutVars>
      </dgm:prSet>
      <dgm:spPr/>
    </dgm:pt>
    <dgm:pt modelId="{BD7366A3-835F-4E90-AA43-82AD028AF65C}" type="pres">
      <dgm:prSet presAssocID="{632C66DD-D946-4FE3-99FB-2B4ACA4F8ABD}" presName="node" presStyleLbl="node1" presStyleIdx="0" presStyleCnt="5">
        <dgm:presLayoutVars>
          <dgm:bulletEnabled val="1"/>
        </dgm:presLayoutVars>
      </dgm:prSet>
      <dgm:spPr/>
    </dgm:pt>
    <dgm:pt modelId="{A8593D94-35C0-4742-9E3F-1C96D800E6BA}" type="pres">
      <dgm:prSet presAssocID="{632C66DD-D946-4FE3-99FB-2B4ACA4F8ABD}" presName="spNode" presStyleCnt="0"/>
      <dgm:spPr/>
    </dgm:pt>
    <dgm:pt modelId="{0A48638D-6083-4A27-B7AE-5CA1D42DED2B}" type="pres">
      <dgm:prSet presAssocID="{C7A4C8D1-88D8-433F-86F8-FE79F7E956A3}" presName="sibTrans" presStyleLbl="sibTrans1D1" presStyleIdx="0" presStyleCnt="5"/>
      <dgm:spPr/>
    </dgm:pt>
    <dgm:pt modelId="{1C7E6348-BB13-4417-98EF-0E3881FD08B9}" type="pres">
      <dgm:prSet presAssocID="{BB44F0C1-B456-42D0-8699-A660340D91EB}" presName="node" presStyleLbl="node1" presStyleIdx="1" presStyleCnt="5">
        <dgm:presLayoutVars>
          <dgm:bulletEnabled val="1"/>
        </dgm:presLayoutVars>
      </dgm:prSet>
      <dgm:spPr/>
    </dgm:pt>
    <dgm:pt modelId="{759D3420-11C2-4D2A-BA46-7DE41FE7891C}" type="pres">
      <dgm:prSet presAssocID="{BB44F0C1-B456-42D0-8699-A660340D91EB}" presName="spNode" presStyleCnt="0"/>
      <dgm:spPr/>
    </dgm:pt>
    <dgm:pt modelId="{789C3029-BACF-4C04-9FEF-89BB79B3C47F}" type="pres">
      <dgm:prSet presAssocID="{632F1BE0-3F1B-4681-922B-66ADE576F9F1}" presName="sibTrans" presStyleLbl="sibTrans1D1" presStyleIdx="1" presStyleCnt="5"/>
      <dgm:spPr/>
    </dgm:pt>
    <dgm:pt modelId="{DDD277E4-D845-4516-BF28-C4C94E8006DE}" type="pres">
      <dgm:prSet presAssocID="{C61FD2EE-5CF5-4AD9-8D06-208A9ACDFC3F}" presName="node" presStyleLbl="node1" presStyleIdx="2" presStyleCnt="5">
        <dgm:presLayoutVars>
          <dgm:bulletEnabled val="1"/>
        </dgm:presLayoutVars>
      </dgm:prSet>
      <dgm:spPr/>
    </dgm:pt>
    <dgm:pt modelId="{2D2CDC8D-EA24-4516-9C5B-489766F053B4}" type="pres">
      <dgm:prSet presAssocID="{C61FD2EE-5CF5-4AD9-8D06-208A9ACDFC3F}" presName="spNode" presStyleCnt="0"/>
      <dgm:spPr/>
    </dgm:pt>
    <dgm:pt modelId="{DB208979-50AE-429F-89C3-548278C302AB}" type="pres">
      <dgm:prSet presAssocID="{A1E039D7-48FC-40D8-A2EC-16A2F959D0C1}" presName="sibTrans" presStyleLbl="sibTrans1D1" presStyleIdx="2" presStyleCnt="5"/>
      <dgm:spPr/>
    </dgm:pt>
    <dgm:pt modelId="{6966C3FA-F0E4-4DE7-89C4-81C7083F8044}" type="pres">
      <dgm:prSet presAssocID="{B160222C-2C9F-4780-9235-38364A48AEF9}" presName="node" presStyleLbl="node1" presStyleIdx="3" presStyleCnt="5">
        <dgm:presLayoutVars>
          <dgm:bulletEnabled val="1"/>
        </dgm:presLayoutVars>
      </dgm:prSet>
      <dgm:spPr/>
    </dgm:pt>
    <dgm:pt modelId="{55D8F13F-FF8C-4C64-9275-FE0AC9A995AC}" type="pres">
      <dgm:prSet presAssocID="{B160222C-2C9F-4780-9235-38364A48AEF9}" presName="spNode" presStyleCnt="0"/>
      <dgm:spPr/>
    </dgm:pt>
    <dgm:pt modelId="{BD0CE21D-C202-43F3-8138-742B74C826C2}" type="pres">
      <dgm:prSet presAssocID="{3EBF0A1C-167C-44FE-A287-89D85A9C0FF3}" presName="sibTrans" presStyleLbl="sibTrans1D1" presStyleIdx="3" presStyleCnt="5"/>
      <dgm:spPr/>
    </dgm:pt>
    <dgm:pt modelId="{60F04DD0-E015-494B-AF7A-73F123D3CD59}" type="pres">
      <dgm:prSet presAssocID="{5D70F007-3C7D-4224-894C-5866430BC13E}" presName="node" presStyleLbl="node1" presStyleIdx="4" presStyleCnt="5">
        <dgm:presLayoutVars>
          <dgm:bulletEnabled val="1"/>
        </dgm:presLayoutVars>
      </dgm:prSet>
      <dgm:spPr/>
    </dgm:pt>
    <dgm:pt modelId="{0E8E53F2-9B6E-497C-AD47-EDF3793C9C6F}" type="pres">
      <dgm:prSet presAssocID="{5D70F007-3C7D-4224-894C-5866430BC13E}" presName="spNode" presStyleCnt="0"/>
      <dgm:spPr/>
    </dgm:pt>
    <dgm:pt modelId="{A1D5E64A-F5A9-404C-96FC-C36382902E98}" type="pres">
      <dgm:prSet presAssocID="{4422463B-3BEE-4D60-9597-5CC2B006E668}" presName="sibTrans" presStyleLbl="sibTrans1D1" presStyleIdx="4" presStyleCnt="5"/>
      <dgm:spPr/>
    </dgm:pt>
  </dgm:ptLst>
  <dgm:cxnLst>
    <dgm:cxn modelId="{08FAE420-313F-4D9C-936F-0FB906A83EAA}" type="presOf" srcId="{A1E039D7-48FC-40D8-A2EC-16A2F959D0C1}" destId="{DB208979-50AE-429F-89C3-548278C302AB}" srcOrd="0" destOrd="0" presId="urn:microsoft.com/office/officeart/2005/8/layout/cycle5"/>
    <dgm:cxn modelId="{59BC453D-92EE-4BFA-9D51-ECC219B1D1E2}" type="presOf" srcId="{BB44F0C1-B456-42D0-8699-A660340D91EB}" destId="{1C7E6348-BB13-4417-98EF-0E3881FD08B9}" srcOrd="0" destOrd="0" presId="urn:microsoft.com/office/officeart/2005/8/layout/cycle5"/>
    <dgm:cxn modelId="{44C70062-C47C-4EB4-A434-419C0D8B2079}" srcId="{75CCC3F4-9435-418C-9DD0-2A10ACE13B49}" destId="{632C66DD-D946-4FE3-99FB-2B4ACA4F8ABD}" srcOrd="0" destOrd="0" parTransId="{DF4428F6-B638-480A-AAA8-E81D917167A5}" sibTransId="{C7A4C8D1-88D8-433F-86F8-FE79F7E956A3}"/>
    <dgm:cxn modelId="{0E21F163-32B4-4CB5-AACB-E94D5ED25A42}" type="presOf" srcId="{5D70F007-3C7D-4224-894C-5866430BC13E}" destId="{60F04DD0-E015-494B-AF7A-73F123D3CD59}" srcOrd="0" destOrd="0" presId="urn:microsoft.com/office/officeart/2005/8/layout/cycle5"/>
    <dgm:cxn modelId="{89444A67-076D-4AE8-86D3-8E7C4C617CAD}" srcId="{75CCC3F4-9435-418C-9DD0-2A10ACE13B49}" destId="{BB44F0C1-B456-42D0-8699-A660340D91EB}" srcOrd="1" destOrd="0" parTransId="{21681036-CFE2-4B31-B2FE-758456ACC972}" sibTransId="{632F1BE0-3F1B-4681-922B-66ADE576F9F1}"/>
    <dgm:cxn modelId="{BB826F68-D836-4332-A699-DAD09AE14461}" type="presOf" srcId="{632C66DD-D946-4FE3-99FB-2B4ACA4F8ABD}" destId="{BD7366A3-835F-4E90-AA43-82AD028AF65C}" srcOrd="0" destOrd="0" presId="urn:microsoft.com/office/officeart/2005/8/layout/cycle5"/>
    <dgm:cxn modelId="{920B9B68-B9F4-4A1B-8085-057552F95A99}" type="presOf" srcId="{632F1BE0-3F1B-4681-922B-66ADE576F9F1}" destId="{789C3029-BACF-4C04-9FEF-89BB79B3C47F}" srcOrd="0" destOrd="0" presId="urn:microsoft.com/office/officeart/2005/8/layout/cycle5"/>
    <dgm:cxn modelId="{678B4E75-FF11-4DBA-8A88-9ECE809F8862}" srcId="{75CCC3F4-9435-418C-9DD0-2A10ACE13B49}" destId="{C61FD2EE-5CF5-4AD9-8D06-208A9ACDFC3F}" srcOrd="2" destOrd="0" parTransId="{26FC13E3-1FC7-4DE5-BE7F-64066FB04655}" sibTransId="{A1E039D7-48FC-40D8-A2EC-16A2F959D0C1}"/>
    <dgm:cxn modelId="{07F7B97A-D3B8-423C-9B18-94AA1F43AAD5}" type="presOf" srcId="{75CCC3F4-9435-418C-9DD0-2A10ACE13B49}" destId="{0100BEC4-ABFC-4330-94C9-E84109475486}" srcOrd="0" destOrd="0" presId="urn:microsoft.com/office/officeart/2005/8/layout/cycle5"/>
    <dgm:cxn modelId="{17D9CC99-6AE9-4F9A-A392-50CF7F94B0C3}" type="presOf" srcId="{C7A4C8D1-88D8-433F-86F8-FE79F7E956A3}" destId="{0A48638D-6083-4A27-B7AE-5CA1D42DED2B}" srcOrd="0" destOrd="0" presId="urn:microsoft.com/office/officeart/2005/8/layout/cycle5"/>
    <dgm:cxn modelId="{C0612BD3-69C8-4D36-AEF8-5371DEB8BD19}" srcId="{75CCC3F4-9435-418C-9DD0-2A10ACE13B49}" destId="{B160222C-2C9F-4780-9235-38364A48AEF9}" srcOrd="3" destOrd="0" parTransId="{8F23DE16-B08A-4DA5-95FF-399BA2447A6B}" sibTransId="{3EBF0A1C-167C-44FE-A287-89D85A9C0FF3}"/>
    <dgm:cxn modelId="{4A9CAFD9-0ED3-4A5C-B67E-10375CAD3762}" type="presOf" srcId="{C61FD2EE-5CF5-4AD9-8D06-208A9ACDFC3F}" destId="{DDD277E4-D845-4516-BF28-C4C94E8006DE}" srcOrd="0" destOrd="0" presId="urn:microsoft.com/office/officeart/2005/8/layout/cycle5"/>
    <dgm:cxn modelId="{455A44DA-D619-4378-839E-0C41C6882670}" type="presOf" srcId="{B160222C-2C9F-4780-9235-38364A48AEF9}" destId="{6966C3FA-F0E4-4DE7-89C4-81C7083F8044}" srcOrd="0" destOrd="0" presId="urn:microsoft.com/office/officeart/2005/8/layout/cycle5"/>
    <dgm:cxn modelId="{3EA628DB-7C39-4AA6-81C7-EF407A1B72D6}" type="presOf" srcId="{3EBF0A1C-167C-44FE-A287-89D85A9C0FF3}" destId="{BD0CE21D-C202-43F3-8138-742B74C826C2}" srcOrd="0" destOrd="0" presId="urn:microsoft.com/office/officeart/2005/8/layout/cycle5"/>
    <dgm:cxn modelId="{458D5EE5-5FF3-4FE7-952B-7BF55ACF9CC3}" type="presOf" srcId="{4422463B-3BEE-4D60-9597-5CC2B006E668}" destId="{A1D5E64A-F5A9-404C-96FC-C36382902E98}" srcOrd="0" destOrd="0" presId="urn:microsoft.com/office/officeart/2005/8/layout/cycle5"/>
    <dgm:cxn modelId="{3F08E5FF-7365-4EBB-A7AB-BC0BCE248796}" srcId="{75CCC3F4-9435-418C-9DD0-2A10ACE13B49}" destId="{5D70F007-3C7D-4224-894C-5866430BC13E}" srcOrd="4" destOrd="0" parTransId="{5010E685-8A27-42C1-AA71-6258BFB008D3}" sibTransId="{4422463B-3BEE-4D60-9597-5CC2B006E668}"/>
    <dgm:cxn modelId="{129E8426-9D17-4451-8CD9-C2EB71B7F896}" type="presParOf" srcId="{0100BEC4-ABFC-4330-94C9-E84109475486}" destId="{BD7366A3-835F-4E90-AA43-82AD028AF65C}" srcOrd="0" destOrd="0" presId="urn:microsoft.com/office/officeart/2005/8/layout/cycle5"/>
    <dgm:cxn modelId="{32F9C742-8EDA-42B5-A336-764E1B7AC572}" type="presParOf" srcId="{0100BEC4-ABFC-4330-94C9-E84109475486}" destId="{A8593D94-35C0-4742-9E3F-1C96D800E6BA}" srcOrd="1" destOrd="0" presId="urn:microsoft.com/office/officeart/2005/8/layout/cycle5"/>
    <dgm:cxn modelId="{EDA08D2D-375E-480B-A041-05E74E09688B}" type="presParOf" srcId="{0100BEC4-ABFC-4330-94C9-E84109475486}" destId="{0A48638D-6083-4A27-B7AE-5CA1D42DED2B}" srcOrd="2" destOrd="0" presId="urn:microsoft.com/office/officeart/2005/8/layout/cycle5"/>
    <dgm:cxn modelId="{C83E9126-D47C-4844-802B-18035BFB0643}" type="presParOf" srcId="{0100BEC4-ABFC-4330-94C9-E84109475486}" destId="{1C7E6348-BB13-4417-98EF-0E3881FD08B9}" srcOrd="3" destOrd="0" presId="urn:microsoft.com/office/officeart/2005/8/layout/cycle5"/>
    <dgm:cxn modelId="{F0D1D5B8-E9A5-410E-BB4D-ECDD7A43F22D}" type="presParOf" srcId="{0100BEC4-ABFC-4330-94C9-E84109475486}" destId="{759D3420-11C2-4D2A-BA46-7DE41FE7891C}" srcOrd="4" destOrd="0" presId="urn:microsoft.com/office/officeart/2005/8/layout/cycle5"/>
    <dgm:cxn modelId="{15477C05-E433-443B-9DA9-19B4E8ED1A9E}" type="presParOf" srcId="{0100BEC4-ABFC-4330-94C9-E84109475486}" destId="{789C3029-BACF-4C04-9FEF-89BB79B3C47F}" srcOrd="5" destOrd="0" presId="urn:microsoft.com/office/officeart/2005/8/layout/cycle5"/>
    <dgm:cxn modelId="{AAFB8E12-3CCC-4337-988D-331CFD98A3F4}" type="presParOf" srcId="{0100BEC4-ABFC-4330-94C9-E84109475486}" destId="{DDD277E4-D845-4516-BF28-C4C94E8006DE}" srcOrd="6" destOrd="0" presId="urn:microsoft.com/office/officeart/2005/8/layout/cycle5"/>
    <dgm:cxn modelId="{4AE313E8-3474-4CF9-9CF7-3D441A52E276}" type="presParOf" srcId="{0100BEC4-ABFC-4330-94C9-E84109475486}" destId="{2D2CDC8D-EA24-4516-9C5B-489766F053B4}" srcOrd="7" destOrd="0" presId="urn:microsoft.com/office/officeart/2005/8/layout/cycle5"/>
    <dgm:cxn modelId="{727C4AE6-7FAB-46E1-B223-02CA9A4B9DD9}" type="presParOf" srcId="{0100BEC4-ABFC-4330-94C9-E84109475486}" destId="{DB208979-50AE-429F-89C3-548278C302AB}" srcOrd="8" destOrd="0" presId="urn:microsoft.com/office/officeart/2005/8/layout/cycle5"/>
    <dgm:cxn modelId="{9B5EA24C-B85E-4488-8AB2-05060F326C28}" type="presParOf" srcId="{0100BEC4-ABFC-4330-94C9-E84109475486}" destId="{6966C3FA-F0E4-4DE7-89C4-81C7083F8044}" srcOrd="9" destOrd="0" presId="urn:microsoft.com/office/officeart/2005/8/layout/cycle5"/>
    <dgm:cxn modelId="{A0835757-6631-458F-9DC0-F6BA87357CC5}" type="presParOf" srcId="{0100BEC4-ABFC-4330-94C9-E84109475486}" destId="{55D8F13F-FF8C-4C64-9275-FE0AC9A995AC}" srcOrd="10" destOrd="0" presId="urn:microsoft.com/office/officeart/2005/8/layout/cycle5"/>
    <dgm:cxn modelId="{B8E9BC20-3B61-487F-BAC7-78D6FAAB4123}" type="presParOf" srcId="{0100BEC4-ABFC-4330-94C9-E84109475486}" destId="{BD0CE21D-C202-43F3-8138-742B74C826C2}" srcOrd="11" destOrd="0" presId="urn:microsoft.com/office/officeart/2005/8/layout/cycle5"/>
    <dgm:cxn modelId="{554BE36B-BFE5-4BD4-84F7-850BED143A2A}" type="presParOf" srcId="{0100BEC4-ABFC-4330-94C9-E84109475486}" destId="{60F04DD0-E015-494B-AF7A-73F123D3CD59}" srcOrd="12" destOrd="0" presId="urn:microsoft.com/office/officeart/2005/8/layout/cycle5"/>
    <dgm:cxn modelId="{7F8F0FC8-441A-4AB9-8616-45E3598C9326}" type="presParOf" srcId="{0100BEC4-ABFC-4330-94C9-E84109475486}" destId="{0E8E53F2-9B6E-497C-AD47-EDF3793C9C6F}" srcOrd="13" destOrd="0" presId="urn:microsoft.com/office/officeart/2005/8/layout/cycle5"/>
    <dgm:cxn modelId="{E2B33CF6-CE0B-4847-B84A-E3C62AFBD199}" type="presParOf" srcId="{0100BEC4-ABFC-4330-94C9-E84109475486}" destId="{A1D5E64A-F5A9-404C-96FC-C36382902E98}"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366A3-835F-4E90-AA43-82AD028AF65C}">
      <dsp:nvSpPr>
        <dsp:cNvPr id="0" name=""/>
        <dsp:cNvSpPr/>
      </dsp:nvSpPr>
      <dsp:spPr>
        <a:xfrm>
          <a:off x="1990538" y="2981"/>
          <a:ext cx="1200522" cy="780339"/>
        </a:xfrm>
        <a:prstGeom prst="roundRect">
          <a:avLst/>
        </a:prstGeom>
        <a:solidFill>
          <a:schemeClr val="accent2">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Profit Margin: 41%</a:t>
          </a:r>
          <a:endParaRPr lang="en-IN" sz="1500" kern="1200" dirty="0"/>
        </a:p>
      </dsp:txBody>
      <dsp:txXfrm>
        <a:off x="2028631" y="41074"/>
        <a:ext cx="1124336" cy="704153"/>
      </dsp:txXfrm>
    </dsp:sp>
    <dsp:sp modelId="{0A48638D-6083-4A27-B7AE-5CA1D42DED2B}">
      <dsp:nvSpPr>
        <dsp:cNvPr id="0" name=""/>
        <dsp:cNvSpPr/>
      </dsp:nvSpPr>
      <dsp:spPr>
        <a:xfrm>
          <a:off x="1032097" y="393151"/>
          <a:ext cx="3117404" cy="3117404"/>
        </a:xfrm>
        <a:custGeom>
          <a:avLst/>
          <a:gdLst/>
          <a:ahLst/>
          <a:cxnLst/>
          <a:rect l="0" t="0" r="0" b="0"/>
          <a:pathLst>
            <a:path>
              <a:moveTo>
                <a:pt x="2319711" y="198401"/>
              </a:moveTo>
              <a:arcTo wR="1558702" hR="1558702" stAng="17953469" swAng="1211485"/>
            </a:path>
          </a:pathLst>
        </a:custGeom>
        <a:noFill/>
        <a:ln w="6350" cap="flat" cmpd="sng" algn="ctr">
          <a:solidFill>
            <a:schemeClr val="accent2">
              <a:hueOff val="0"/>
              <a:satOff val="0"/>
              <a:lumOff val="0"/>
              <a:alphaOff val="0"/>
            </a:schemeClr>
          </a:solidFill>
          <a:prstDash val="solid"/>
          <a:miter lim="800000"/>
          <a:tailEnd type="arrow"/>
        </a:ln>
        <a:effectLst/>
        <a:sp3d z="-40000" prstMaterial="matte"/>
      </dsp:spPr>
      <dsp:style>
        <a:lnRef idx="1">
          <a:scrgbClr r="0" g="0" b="0"/>
        </a:lnRef>
        <a:fillRef idx="0">
          <a:scrgbClr r="0" g="0" b="0"/>
        </a:fillRef>
        <a:effectRef idx="0">
          <a:scrgbClr r="0" g="0" b="0"/>
        </a:effectRef>
        <a:fontRef idx="minor"/>
      </dsp:style>
    </dsp:sp>
    <dsp:sp modelId="{1C7E6348-BB13-4417-98EF-0E3881FD08B9}">
      <dsp:nvSpPr>
        <dsp:cNvPr id="0" name=""/>
        <dsp:cNvSpPr/>
      </dsp:nvSpPr>
      <dsp:spPr>
        <a:xfrm>
          <a:off x="3472952" y="1080018"/>
          <a:ext cx="1200522" cy="780339"/>
        </a:xfrm>
        <a:prstGeom prst="roundRect">
          <a:avLst/>
        </a:prstGeom>
        <a:solidFill>
          <a:schemeClr val="accent3">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Total Orders: 60,398</a:t>
          </a:r>
          <a:endParaRPr lang="en-IN" sz="1500" kern="1200" dirty="0"/>
        </a:p>
      </dsp:txBody>
      <dsp:txXfrm>
        <a:off x="3511045" y="1118111"/>
        <a:ext cx="1124336" cy="704153"/>
      </dsp:txXfrm>
    </dsp:sp>
    <dsp:sp modelId="{789C3029-BACF-4C04-9FEF-89BB79B3C47F}">
      <dsp:nvSpPr>
        <dsp:cNvPr id="0" name=""/>
        <dsp:cNvSpPr/>
      </dsp:nvSpPr>
      <dsp:spPr>
        <a:xfrm>
          <a:off x="1032097" y="393151"/>
          <a:ext cx="3117404" cy="3117404"/>
        </a:xfrm>
        <a:custGeom>
          <a:avLst/>
          <a:gdLst/>
          <a:ahLst/>
          <a:cxnLst/>
          <a:rect l="0" t="0" r="0" b="0"/>
          <a:pathLst>
            <a:path>
              <a:moveTo>
                <a:pt x="3113664" y="1666608"/>
              </a:moveTo>
              <a:arcTo wR="1558702" hR="1558702" stAng="21838180" swAng="1359685"/>
            </a:path>
          </a:pathLst>
        </a:custGeom>
        <a:noFill/>
        <a:ln w="6350" cap="flat" cmpd="sng" algn="ctr">
          <a:solidFill>
            <a:schemeClr val="accent3">
              <a:hueOff val="0"/>
              <a:satOff val="0"/>
              <a:lumOff val="0"/>
              <a:alphaOff val="0"/>
            </a:schemeClr>
          </a:solidFill>
          <a:prstDash val="solid"/>
          <a:miter lim="800000"/>
          <a:tailEnd type="arrow"/>
        </a:ln>
        <a:effectLst/>
        <a:sp3d z="-40000" prstMaterial="matte"/>
      </dsp:spPr>
      <dsp:style>
        <a:lnRef idx="1">
          <a:scrgbClr r="0" g="0" b="0"/>
        </a:lnRef>
        <a:fillRef idx="0">
          <a:scrgbClr r="0" g="0" b="0"/>
        </a:fillRef>
        <a:effectRef idx="0">
          <a:scrgbClr r="0" g="0" b="0"/>
        </a:effectRef>
        <a:fontRef idx="minor"/>
      </dsp:style>
    </dsp:sp>
    <dsp:sp modelId="{DDD277E4-D845-4516-BF28-C4C94E8006DE}">
      <dsp:nvSpPr>
        <dsp:cNvPr id="0" name=""/>
        <dsp:cNvSpPr/>
      </dsp:nvSpPr>
      <dsp:spPr>
        <a:xfrm>
          <a:off x="2906721" y="2822700"/>
          <a:ext cx="1200522" cy="780339"/>
        </a:xfrm>
        <a:prstGeom prst="roundRect">
          <a:avLst/>
        </a:prstGeom>
        <a:solidFill>
          <a:schemeClr val="accent4">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Total Cost: ₹17.27M</a:t>
          </a:r>
          <a:endParaRPr lang="en-US" sz="1500" kern="1200" dirty="0"/>
        </a:p>
      </dsp:txBody>
      <dsp:txXfrm>
        <a:off x="2944814" y="2860793"/>
        <a:ext cx="1124336" cy="704153"/>
      </dsp:txXfrm>
    </dsp:sp>
    <dsp:sp modelId="{DB208979-50AE-429F-89C3-548278C302AB}">
      <dsp:nvSpPr>
        <dsp:cNvPr id="0" name=""/>
        <dsp:cNvSpPr/>
      </dsp:nvSpPr>
      <dsp:spPr>
        <a:xfrm>
          <a:off x="1032097" y="393151"/>
          <a:ext cx="3117404" cy="3117404"/>
        </a:xfrm>
        <a:custGeom>
          <a:avLst/>
          <a:gdLst/>
          <a:ahLst/>
          <a:cxnLst/>
          <a:rect l="0" t="0" r="0" b="0"/>
          <a:pathLst>
            <a:path>
              <a:moveTo>
                <a:pt x="1749975" y="3105624"/>
              </a:moveTo>
              <a:arcTo wR="1558702" hR="1558702" stAng="4977077" swAng="845846"/>
            </a:path>
          </a:pathLst>
        </a:custGeom>
        <a:noFill/>
        <a:ln w="6350" cap="flat" cmpd="sng" algn="ctr">
          <a:solidFill>
            <a:schemeClr val="accent4">
              <a:hueOff val="0"/>
              <a:satOff val="0"/>
              <a:lumOff val="0"/>
              <a:alphaOff val="0"/>
            </a:schemeClr>
          </a:solidFill>
          <a:prstDash val="solid"/>
          <a:miter lim="800000"/>
          <a:tailEnd type="arrow"/>
        </a:ln>
        <a:effectLst/>
        <a:sp3d z="-40000" prstMaterial="matte"/>
      </dsp:spPr>
      <dsp:style>
        <a:lnRef idx="1">
          <a:scrgbClr r="0" g="0" b="0"/>
        </a:lnRef>
        <a:fillRef idx="0">
          <a:scrgbClr r="0" g="0" b="0"/>
        </a:fillRef>
        <a:effectRef idx="0">
          <a:scrgbClr r="0" g="0" b="0"/>
        </a:effectRef>
        <a:fontRef idx="minor"/>
      </dsp:style>
    </dsp:sp>
    <dsp:sp modelId="{6966C3FA-F0E4-4DE7-89C4-81C7083F8044}">
      <dsp:nvSpPr>
        <dsp:cNvPr id="0" name=""/>
        <dsp:cNvSpPr/>
      </dsp:nvSpPr>
      <dsp:spPr>
        <a:xfrm>
          <a:off x="1074356" y="2822700"/>
          <a:ext cx="1200522" cy="780339"/>
        </a:xfrm>
        <a:prstGeom prst="roundRect">
          <a:avLst/>
        </a:prstGeom>
        <a:solidFill>
          <a:schemeClr val="accent5">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Total Profit: ₹12.08M</a:t>
          </a:r>
          <a:endParaRPr lang="en-IN" sz="1500" kern="1200" dirty="0"/>
        </a:p>
      </dsp:txBody>
      <dsp:txXfrm>
        <a:off x="1112449" y="2860793"/>
        <a:ext cx="1124336" cy="704153"/>
      </dsp:txXfrm>
    </dsp:sp>
    <dsp:sp modelId="{BD0CE21D-C202-43F3-8138-742B74C826C2}">
      <dsp:nvSpPr>
        <dsp:cNvPr id="0" name=""/>
        <dsp:cNvSpPr/>
      </dsp:nvSpPr>
      <dsp:spPr>
        <a:xfrm>
          <a:off x="1032097" y="393151"/>
          <a:ext cx="3117404" cy="3117404"/>
        </a:xfrm>
        <a:custGeom>
          <a:avLst/>
          <a:gdLst/>
          <a:ahLst/>
          <a:cxnLst/>
          <a:rect l="0" t="0" r="0" b="0"/>
          <a:pathLst>
            <a:path>
              <a:moveTo>
                <a:pt x="165360" y="2257381"/>
              </a:moveTo>
              <a:arcTo wR="1558702" hR="1558702" stAng="9202135" swAng="1359685"/>
            </a:path>
          </a:pathLst>
        </a:custGeom>
        <a:noFill/>
        <a:ln w="6350" cap="flat" cmpd="sng" algn="ctr">
          <a:solidFill>
            <a:schemeClr val="accent5">
              <a:hueOff val="0"/>
              <a:satOff val="0"/>
              <a:lumOff val="0"/>
              <a:alphaOff val="0"/>
            </a:schemeClr>
          </a:solidFill>
          <a:prstDash val="solid"/>
          <a:miter lim="800000"/>
          <a:tailEnd type="arrow"/>
        </a:ln>
        <a:effectLst/>
        <a:sp3d z="-40000" prstMaterial="matte"/>
      </dsp:spPr>
      <dsp:style>
        <a:lnRef idx="1">
          <a:scrgbClr r="0" g="0" b="0"/>
        </a:lnRef>
        <a:fillRef idx="0">
          <a:scrgbClr r="0" g="0" b="0"/>
        </a:fillRef>
        <a:effectRef idx="0">
          <a:scrgbClr r="0" g="0" b="0"/>
        </a:effectRef>
        <a:fontRef idx="minor"/>
      </dsp:style>
    </dsp:sp>
    <dsp:sp modelId="{60F04DD0-E015-494B-AF7A-73F123D3CD59}">
      <dsp:nvSpPr>
        <dsp:cNvPr id="0" name=""/>
        <dsp:cNvSpPr/>
      </dsp:nvSpPr>
      <dsp:spPr>
        <a:xfrm>
          <a:off x="508125" y="1080018"/>
          <a:ext cx="1200522" cy="780339"/>
        </a:xfrm>
        <a:prstGeom prst="roundRect">
          <a:avLst/>
        </a:prstGeom>
        <a:solidFill>
          <a:schemeClr val="accent6">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Total Sales: ₹29.36M</a:t>
          </a:r>
          <a:endParaRPr lang="en-IN" sz="1500" kern="1200" dirty="0"/>
        </a:p>
      </dsp:txBody>
      <dsp:txXfrm>
        <a:off x="546218" y="1118111"/>
        <a:ext cx="1124336" cy="704153"/>
      </dsp:txXfrm>
    </dsp:sp>
    <dsp:sp modelId="{A1D5E64A-F5A9-404C-96FC-C36382902E98}">
      <dsp:nvSpPr>
        <dsp:cNvPr id="0" name=""/>
        <dsp:cNvSpPr/>
      </dsp:nvSpPr>
      <dsp:spPr>
        <a:xfrm>
          <a:off x="1032097" y="393151"/>
          <a:ext cx="3117404" cy="3117404"/>
        </a:xfrm>
        <a:custGeom>
          <a:avLst/>
          <a:gdLst/>
          <a:ahLst/>
          <a:cxnLst/>
          <a:rect l="0" t="0" r="0" b="0"/>
          <a:pathLst>
            <a:path>
              <a:moveTo>
                <a:pt x="374942" y="544667"/>
              </a:moveTo>
              <a:arcTo wR="1558702" hR="1558702" stAng="13235046" swAng="1211485"/>
            </a:path>
          </a:pathLst>
        </a:custGeom>
        <a:noFill/>
        <a:ln w="6350" cap="flat" cmpd="sng" algn="ctr">
          <a:solidFill>
            <a:schemeClr val="accent6">
              <a:hueOff val="0"/>
              <a:satOff val="0"/>
              <a:lumOff val="0"/>
              <a:alphaOff val="0"/>
            </a:schemeClr>
          </a:solidFill>
          <a:prstDash val="solid"/>
          <a:miter lim="800000"/>
          <a:tailEnd type="arrow"/>
        </a:ln>
        <a:effectLst/>
        <a:sp3d z="-40000" prstMaterial="matte"/>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9E3A2D-EE69-40FA-AD11-75EFACD34B96}" type="datetimeFigureOut">
              <a:rPr lang="en-IN" smtClean="0"/>
              <a:t>20-03-2026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E123FA-1F3F-4D0C-BE3B-DB726CE0AF2E}" type="slidenum">
              <a:rPr lang="en-IN" smtClean="0"/>
              <a:t>‹#›</a:t>
            </a:fld>
            <a:endParaRPr lang="en-IN"/>
          </a:p>
        </p:txBody>
      </p:sp>
    </p:spTree>
    <p:extLst>
      <p:ext uri="{BB962C8B-B14F-4D97-AF65-F5344CB8AC3E}">
        <p14:creationId xmlns:p14="http://schemas.microsoft.com/office/powerpoint/2010/main" val="1692148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9DE65F-CABE-4FD6-984A-026672ACF348}" type="datetime1">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1312091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F7E483-04C1-4F16-922F-27E6B4ABEC32}" type="datetime1">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1709550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FEFC8B-52AD-48B6-B303-784A979805CB}" type="datetime1">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1187452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C3E611-6C5A-4673-9146-3EA479ECCE4B}" type="datetime1">
              <a:rPr lang="en-IN" smtClean="0"/>
              <a:t>20-03-2026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3439125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6BDD2E-6D51-4D25-83D1-9CDC5FCF4B37}" type="datetime1">
              <a:rPr lang="en-IN" smtClean="0"/>
              <a:t>20-03-2026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374768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1BC614-4F5F-4DEF-AE60-19AFF2A3753C}" type="datetime1">
              <a:rPr lang="en-IN" smtClean="0"/>
              <a:t>20-03-2026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158137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B5D031-9B34-4FFF-98D0-B4272F6D03C5}" type="datetime1">
              <a:rPr lang="en-IN" smtClean="0"/>
              <a:t>20-03-2026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3956388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C6E6C6-DFA7-4731-96CE-53BAB11A2853}" type="datetime1">
              <a:rPr lang="en-IN" smtClean="0"/>
              <a:t>20-03-2026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97655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6F3A43-E70B-4C2F-AEBC-71276DB3DA48}" type="datetime1">
              <a:rPr lang="en-IN" smtClean="0"/>
              <a:t>20-03-2026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97068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D15827-0ABD-4C36-9354-965AC5E4DE7F}" type="datetime1">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1853752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12A58E-554D-4539-9AB4-1379EE5D93DB}" type="datetime1">
              <a:rPr lang="en-IN" smtClean="0"/>
              <a:t>20-03-2026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6BDC6-2085-4652-A5CE-18954849DE2F}" type="slidenum">
              <a:rPr lang="en-IN" smtClean="0"/>
              <a:t>‹#›</a:t>
            </a:fld>
            <a:endParaRPr lang="en-IN"/>
          </a:p>
        </p:txBody>
      </p:sp>
    </p:spTree>
    <p:extLst>
      <p:ext uri="{BB962C8B-B14F-4D97-AF65-F5344CB8AC3E}">
        <p14:creationId xmlns:p14="http://schemas.microsoft.com/office/powerpoint/2010/main" val="2387699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787156-2DFD-45AB-8AF4-8E121D0489E9}" type="datetime1">
              <a:rPr lang="en-IN" smtClean="0"/>
              <a:t>20-03-2026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06BDC6-2085-4652-A5CE-18954849DE2F}" type="slidenum">
              <a:rPr lang="en-IN" smtClean="0"/>
              <a:t>‹#›</a:t>
            </a:fld>
            <a:endParaRPr lang="en-IN"/>
          </a:p>
        </p:txBody>
      </p:sp>
    </p:spTree>
    <p:extLst>
      <p:ext uri="{BB962C8B-B14F-4D97-AF65-F5344CB8AC3E}">
        <p14:creationId xmlns:p14="http://schemas.microsoft.com/office/powerpoint/2010/main" val="252097488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E1743B-09CD-E394-2810-BF1029EF8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ln>
            <a:noFill/>
          </a:ln>
          <a:effectLst>
            <a:softEdge rad="112500"/>
          </a:effectLst>
        </p:spPr>
      </p:pic>
      <p:sp>
        <p:nvSpPr>
          <p:cNvPr id="4" name="Slide Number Placeholder 3">
            <a:extLst>
              <a:ext uri="{FF2B5EF4-FFF2-40B4-BE49-F238E27FC236}">
                <a16:creationId xmlns:a16="http://schemas.microsoft.com/office/drawing/2014/main" id="{8282A7D2-AFF3-E3B8-5A12-1D98C732736B}"/>
              </a:ext>
            </a:extLst>
          </p:cNvPr>
          <p:cNvSpPr>
            <a:spLocks noGrp="1"/>
          </p:cNvSpPr>
          <p:nvPr>
            <p:ph type="sldNum" sz="quarter" idx="12"/>
          </p:nvPr>
        </p:nvSpPr>
        <p:spPr/>
        <p:txBody>
          <a:bodyPr/>
          <a:lstStyle/>
          <a:p>
            <a:fld id="{3B06BDC6-2085-4652-A5CE-18954849DE2F}" type="slidenum">
              <a:rPr lang="en-IN" smtClean="0"/>
              <a:t>1</a:t>
            </a:fld>
            <a:endParaRPr lang="en-IN"/>
          </a:p>
        </p:txBody>
      </p:sp>
      <p:sp>
        <p:nvSpPr>
          <p:cNvPr id="5" name="TextBox 4">
            <a:extLst>
              <a:ext uri="{FF2B5EF4-FFF2-40B4-BE49-F238E27FC236}">
                <a16:creationId xmlns:a16="http://schemas.microsoft.com/office/drawing/2014/main" id="{C6DA190A-F1D0-F203-69E9-02F6C1BD3DE1}"/>
              </a:ext>
            </a:extLst>
          </p:cNvPr>
          <p:cNvSpPr txBox="1"/>
          <p:nvPr/>
        </p:nvSpPr>
        <p:spPr>
          <a:xfrm>
            <a:off x="593623" y="4205531"/>
            <a:ext cx="3232355" cy="230832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PRESENTED BY:-</a:t>
            </a:r>
          </a:p>
          <a:p>
            <a:r>
              <a:rPr lang="en-IN" b="1" dirty="0">
                <a:solidFill>
                  <a:schemeClr val="accent6"/>
                </a:solidFill>
                <a:latin typeface="Times New Roman" panose="02020603050405020304" pitchFamily="18" charset="0"/>
                <a:cs typeface="Times New Roman" panose="02020603050405020304" pitchFamily="18" charset="0"/>
              </a:rPr>
              <a:t>GROUP - 2 </a:t>
            </a:r>
          </a:p>
          <a:p>
            <a:pPr marL="342900" indent="-342900">
              <a:buFont typeface="Wingdings" panose="05000000000000000000" pitchFamily="2" charset="2"/>
              <a:buChar char="Ø"/>
            </a:pPr>
            <a:r>
              <a:rPr lang="en-IN" dirty="0">
                <a:solidFill>
                  <a:srgbClr val="FFC000"/>
                </a:solidFill>
                <a:latin typeface="Times New Roman" panose="02020603050405020304" pitchFamily="18" charset="0"/>
                <a:cs typeface="Times New Roman" panose="02020603050405020304" pitchFamily="18" charset="0"/>
              </a:rPr>
              <a:t>ROHIT</a:t>
            </a:r>
          </a:p>
          <a:p>
            <a:pPr marL="342900" indent="-342900">
              <a:buFont typeface="Wingdings" panose="05000000000000000000" pitchFamily="2" charset="2"/>
              <a:buChar char="Ø"/>
            </a:pPr>
            <a:r>
              <a:rPr lang="en-IN" dirty="0">
                <a:solidFill>
                  <a:srgbClr val="FFC000"/>
                </a:solidFill>
                <a:latin typeface="Times New Roman" panose="02020603050405020304" pitchFamily="18" charset="0"/>
                <a:cs typeface="Times New Roman" panose="02020603050405020304" pitchFamily="18" charset="0"/>
              </a:rPr>
              <a:t>SWATHI</a:t>
            </a:r>
          </a:p>
          <a:p>
            <a:pPr marL="342900" indent="-342900">
              <a:buFont typeface="Wingdings" panose="05000000000000000000" pitchFamily="2" charset="2"/>
              <a:buChar char="Ø"/>
            </a:pPr>
            <a:r>
              <a:rPr lang="en-IN" dirty="0">
                <a:solidFill>
                  <a:srgbClr val="FFC000"/>
                </a:solidFill>
                <a:latin typeface="Times New Roman" panose="02020603050405020304" pitchFamily="18" charset="0"/>
                <a:cs typeface="Times New Roman" panose="02020603050405020304" pitchFamily="18" charset="0"/>
              </a:rPr>
              <a:t>ROSHAN</a:t>
            </a:r>
          </a:p>
          <a:p>
            <a:pPr marL="342900" indent="-342900">
              <a:buFont typeface="Wingdings" panose="05000000000000000000" pitchFamily="2" charset="2"/>
              <a:buChar char="Ø"/>
            </a:pPr>
            <a:r>
              <a:rPr lang="en-IN" dirty="0">
                <a:solidFill>
                  <a:srgbClr val="FFC000"/>
                </a:solidFill>
                <a:latin typeface="Times New Roman" panose="02020603050405020304" pitchFamily="18" charset="0"/>
                <a:cs typeface="Times New Roman" panose="02020603050405020304" pitchFamily="18" charset="0"/>
              </a:rPr>
              <a:t>SAIKIRAN</a:t>
            </a:r>
          </a:p>
          <a:p>
            <a:pPr marL="342900" indent="-342900">
              <a:buFont typeface="Wingdings" panose="05000000000000000000" pitchFamily="2" charset="2"/>
              <a:buChar char="Ø"/>
            </a:pPr>
            <a:r>
              <a:rPr lang="en-IN" dirty="0">
                <a:solidFill>
                  <a:srgbClr val="FFC000"/>
                </a:solidFill>
                <a:latin typeface="Times New Roman" panose="02020603050405020304" pitchFamily="18" charset="0"/>
                <a:cs typeface="Times New Roman" panose="02020603050405020304" pitchFamily="18" charset="0"/>
              </a:rPr>
              <a:t>VISHAL</a:t>
            </a:r>
          </a:p>
          <a:p>
            <a:pPr marL="342900" indent="-342900">
              <a:buFont typeface="Wingdings" panose="05000000000000000000" pitchFamily="2" charset="2"/>
              <a:buChar char="Ø"/>
            </a:pPr>
            <a:r>
              <a:rPr lang="en-IN" dirty="0">
                <a:solidFill>
                  <a:srgbClr val="FFC000"/>
                </a:solidFill>
                <a:latin typeface="Times New Roman" panose="02020603050405020304" pitchFamily="18" charset="0"/>
                <a:cs typeface="Times New Roman" panose="02020603050405020304" pitchFamily="18" charset="0"/>
              </a:rPr>
              <a:t>VILAS</a:t>
            </a:r>
          </a:p>
        </p:txBody>
      </p:sp>
      <p:sp>
        <p:nvSpPr>
          <p:cNvPr id="2" name="TextBox 1">
            <a:extLst>
              <a:ext uri="{FF2B5EF4-FFF2-40B4-BE49-F238E27FC236}">
                <a16:creationId xmlns:a16="http://schemas.microsoft.com/office/drawing/2014/main" id="{DDED374B-5507-69FD-C45F-7DACEA8DBC1C}"/>
              </a:ext>
            </a:extLst>
          </p:cNvPr>
          <p:cNvSpPr txBox="1"/>
          <p:nvPr/>
        </p:nvSpPr>
        <p:spPr>
          <a:xfrm>
            <a:off x="8855177" y="4821084"/>
            <a:ext cx="2743200" cy="169277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TOOLS USED :-</a:t>
            </a:r>
          </a:p>
          <a:p>
            <a:pPr marL="342900" indent="-342900">
              <a:buFont typeface="Wingdings" panose="05000000000000000000" pitchFamily="2" charset="2"/>
              <a:buChar char="ü"/>
            </a:pPr>
            <a:r>
              <a:rPr lang="en-US" sz="2000" b="1" dirty="0">
                <a:solidFill>
                  <a:srgbClr val="FFC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EXCEL </a:t>
            </a:r>
          </a:p>
          <a:p>
            <a:pPr marL="342900" indent="-342900">
              <a:buFont typeface="Wingdings" panose="05000000000000000000" pitchFamily="2" charset="2"/>
              <a:buChar char="ü"/>
            </a:pPr>
            <a:r>
              <a:rPr lang="en-US" sz="2000" b="1" dirty="0">
                <a:solidFill>
                  <a:srgbClr val="FFC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TABLEAU</a:t>
            </a:r>
          </a:p>
          <a:p>
            <a:pPr marL="342900" indent="-342900">
              <a:buFont typeface="Wingdings" panose="05000000000000000000" pitchFamily="2" charset="2"/>
              <a:buChar char="ü"/>
            </a:pPr>
            <a:r>
              <a:rPr lang="en-US" sz="2000" b="1" dirty="0">
                <a:solidFill>
                  <a:srgbClr val="FFC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SQL </a:t>
            </a:r>
          </a:p>
          <a:p>
            <a:pPr marL="342900" indent="-342900">
              <a:buFont typeface="Wingdings" panose="05000000000000000000" pitchFamily="2" charset="2"/>
              <a:buChar char="ü"/>
            </a:pPr>
            <a:r>
              <a:rPr lang="en-US" sz="2000" b="1" dirty="0">
                <a:solidFill>
                  <a:srgbClr val="FFC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POWER BI</a:t>
            </a:r>
          </a:p>
        </p:txBody>
      </p:sp>
    </p:spTree>
    <p:extLst>
      <p:ext uri="{BB962C8B-B14F-4D97-AF65-F5344CB8AC3E}">
        <p14:creationId xmlns:p14="http://schemas.microsoft.com/office/powerpoint/2010/main" val="4106072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46C76-2D81-2B4A-2D6B-DA387FFA6C89}"/>
              </a:ext>
            </a:extLst>
          </p:cNvPr>
          <p:cNvSpPr>
            <a:spLocks noGrp="1"/>
          </p:cNvSpPr>
          <p:nvPr>
            <p:ph type="title"/>
          </p:nvPr>
        </p:nvSpPr>
        <p:spPr>
          <a:xfrm>
            <a:off x="836611" y="457200"/>
            <a:ext cx="5818831" cy="1116957"/>
          </a:xfrm>
        </p:spPr>
        <p:txBody>
          <a:bodyPr>
            <a:noAutofit/>
          </a:bodyPr>
          <a:lstStyle/>
          <a:p>
            <a:r>
              <a:rPr lang="en-IN" sz="4000" b="1" dirty="0">
                <a:latin typeface="Times New Roman" panose="02020603050405020304" pitchFamily="18" charset="0"/>
                <a:cs typeface="Times New Roman" panose="02020603050405020304" pitchFamily="18" charset="0"/>
              </a:rPr>
              <a:t>COMPANY OVERVIEW</a:t>
            </a:r>
          </a:p>
        </p:txBody>
      </p:sp>
      <p:sp>
        <p:nvSpPr>
          <p:cNvPr id="4" name="Text Placeholder 3">
            <a:extLst>
              <a:ext uri="{FF2B5EF4-FFF2-40B4-BE49-F238E27FC236}">
                <a16:creationId xmlns:a16="http://schemas.microsoft.com/office/drawing/2014/main" id="{3EB96C19-44BD-B52B-ABBC-731989E76DC1}"/>
              </a:ext>
            </a:extLst>
          </p:cNvPr>
          <p:cNvSpPr>
            <a:spLocks noGrp="1"/>
          </p:cNvSpPr>
          <p:nvPr>
            <p:ph type="body" sz="half" idx="2"/>
          </p:nvPr>
        </p:nvSpPr>
        <p:spPr>
          <a:xfrm>
            <a:off x="839788" y="2057400"/>
            <a:ext cx="5256212" cy="4343400"/>
          </a:xfrm>
        </p:spPr>
        <p:txBody>
          <a:bodyPr/>
          <a:lstStyle/>
          <a:p>
            <a:r>
              <a:rPr lang="en-US" sz="2000" dirty="0">
                <a:latin typeface="Times New Roman" panose="02020603050405020304" pitchFamily="18" charset="0"/>
                <a:cs typeface="Times New Roman" panose="02020603050405020304" pitchFamily="18" charset="0"/>
              </a:rPr>
              <a:t>Adventure Works Cycles is a fictional manufacturing company created by Microsoft for learning and demonstrating business intelligence, data analytics, and database management concepts.</a:t>
            </a:r>
          </a:p>
          <a:p>
            <a:r>
              <a:rPr lang="en-US" sz="2000" dirty="0">
                <a:latin typeface="Times New Roman" panose="02020603050405020304" pitchFamily="18" charset="0"/>
                <a:cs typeface="Times New Roman" panose="02020603050405020304" pitchFamily="18" charset="0"/>
              </a:rPr>
              <a:t>Industry: Bicycle manufacturing and retail</a:t>
            </a:r>
          </a:p>
          <a:p>
            <a:r>
              <a:rPr lang="en-US" sz="2000" dirty="0">
                <a:latin typeface="Times New Roman" panose="02020603050405020304" pitchFamily="18" charset="0"/>
                <a:cs typeface="Times New Roman" panose="02020603050405020304" pitchFamily="18" charset="0"/>
              </a:rPr>
              <a:t>Products: Bikes, components, clothing, accessories</a:t>
            </a:r>
          </a:p>
          <a:p>
            <a:r>
              <a:rPr lang="en-US" sz="2000" dirty="0">
                <a:latin typeface="Times New Roman" panose="02020603050405020304" pitchFamily="18" charset="0"/>
                <a:cs typeface="Times New Roman" panose="02020603050405020304" pitchFamily="18" charset="0"/>
              </a:rPr>
              <a:t>Business Model: B2B (resellers) + B2C (direct customers)</a:t>
            </a:r>
          </a:p>
          <a:p>
            <a:r>
              <a:rPr lang="en-US" sz="2000" dirty="0">
                <a:latin typeface="Times New Roman" panose="02020603050405020304" pitchFamily="18" charset="0"/>
                <a:cs typeface="Times New Roman" panose="02020603050405020304" pitchFamily="18" charset="0"/>
              </a:rPr>
              <a:t>Purpose: Used as a standard dataset for tools like SQL, Power BI, Excel, and Tableau</a:t>
            </a:r>
          </a:p>
          <a:p>
            <a:endParaRPr lang="en-IN" dirty="0"/>
          </a:p>
        </p:txBody>
      </p:sp>
      <p:pic>
        <p:nvPicPr>
          <p:cNvPr id="1026" name="Picture 2" descr="Adventure Works | Developers of LIFTED">
            <a:extLst>
              <a:ext uri="{FF2B5EF4-FFF2-40B4-BE49-F238E27FC236}">
                <a16:creationId xmlns:a16="http://schemas.microsoft.com/office/drawing/2014/main" id="{BC71BC22-013C-99F8-F736-3E8457676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5442" y="2637581"/>
            <a:ext cx="4824090" cy="31830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429956D0-0694-1BA2-5E67-77F473F0982A}"/>
              </a:ext>
            </a:extLst>
          </p:cNvPr>
          <p:cNvSpPr>
            <a:spLocks noGrp="1"/>
          </p:cNvSpPr>
          <p:nvPr>
            <p:ph type="sldNum" sz="quarter" idx="12"/>
          </p:nvPr>
        </p:nvSpPr>
        <p:spPr/>
        <p:txBody>
          <a:bodyPr/>
          <a:lstStyle/>
          <a:p>
            <a:fld id="{3B06BDC6-2085-4652-A5CE-18954849DE2F}" type="slidenum">
              <a:rPr lang="en-IN" smtClean="0"/>
              <a:t>2</a:t>
            </a:fld>
            <a:endParaRPr lang="en-IN"/>
          </a:p>
        </p:txBody>
      </p:sp>
    </p:spTree>
    <p:extLst>
      <p:ext uri="{BB962C8B-B14F-4D97-AF65-F5344CB8AC3E}">
        <p14:creationId xmlns:p14="http://schemas.microsoft.com/office/powerpoint/2010/main" val="2459502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D4189-5166-A00C-F2FD-39250C853D4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DATASET </a:t>
            </a:r>
            <a:r>
              <a:rPr lang="en-IN" sz="4000" b="1" dirty="0">
                <a:latin typeface="Times New Roman" panose="02020603050405020304" pitchFamily="18" charset="0"/>
                <a:cs typeface="Times New Roman" panose="02020603050405020304" pitchFamily="18" charset="0"/>
              </a:rPr>
              <a:t>OVERVIEW</a:t>
            </a:r>
          </a:p>
        </p:txBody>
      </p:sp>
      <p:sp>
        <p:nvSpPr>
          <p:cNvPr id="3" name="Content Placeholder 2">
            <a:extLst>
              <a:ext uri="{FF2B5EF4-FFF2-40B4-BE49-F238E27FC236}">
                <a16:creationId xmlns:a16="http://schemas.microsoft.com/office/drawing/2014/main" id="{EAD23EF1-199A-F89A-9207-4C92A84D1076}"/>
              </a:ext>
            </a:extLst>
          </p:cNvPr>
          <p:cNvSpPr>
            <a:spLocks noGrp="1"/>
          </p:cNvSpPr>
          <p:nvPr>
            <p:ph idx="1"/>
          </p:nvPr>
        </p:nvSpPr>
        <p:spPr>
          <a:xfrm>
            <a:off x="838200" y="1376516"/>
            <a:ext cx="5365830" cy="4800447"/>
          </a:xfrm>
        </p:spPr>
        <p:txBody>
          <a:bodyPr>
            <a:normAutofit lnSpcReduction="10000"/>
          </a:bodyPr>
          <a:lstStyle/>
          <a:p>
            <a:pPr marL="0" indent="0">
              <a:buNone/>
            </a:pPr>
            <a:r>
              <a:rPr lang="en-US" sz="2000" b="1" dirty="0">
                <a:latin typeface="Times New Roman" panose="02020603050405020304" pitchFamily="18" charset="0"/>
                <a:cs typeface="Times New Roman" panose="02020603050405020304" pitchFamily="18" charset="0"/>
              </a:rPr>
              <a:t>Dataset : Adventure Works Main Data</a:t>
            </a:r>
          </a:p>
          <a:p>
            <a:pPr marL="0" indent="0">
              <a:buNone/>
            </a:pPr>
            <a:r>
              <a:rPr lang="en-US" sz="2000" dirty="0">
                <a:solidFill>
                  <a:srgbClr val="FFC000"/>
                </a:solidFill>
                <a:latin typeface="Times New Roman" panose="02020603050405020304" pitchFamily="18" charset="0"/>
                <a:cs typeface="Times New Roman" panose="02020603050405020304" pitchFamily="18" charset="0"/>
              </a:rPr>
              <a:t>Customer | Date | Product | Category | Subcategory| Sales Territory | New Sales | Old Sales</a:t>
            </a:r>
          </a:p>
          <a:p>
            <a:pPr marL="0" indent="0">
              <a:buNone/>
            </a:pPr>
            <a:r>
              <a:rPr lang="en-US" sz="2000" dirty="0">
                <a:latin typeface="Times New Roman" panose="02020603050405020304" pitchFamily="18" charset="0"/>
                <a:cs typeface="Times New Roman" panose="02020603050405020304" pitchFamily="18" charset="0"/>
              </a:rPr>
              <a:t>Data Includes information such as:</a:t>
            </a:r>
          </a:p>
          <a:p>
            <a:pPr>
              <a:buFont typeface="Wingdings" panose="05000000000000000000" pitchFamily="2" charset="2"/>
              <a:buChar char="ü"/>
            </a:pPr>
            <a:r>
              <a:rPr lang="en-US" sz="2000" dirty="0">
                <a:latin typeface="Times New Roman" panose="02020603050405020304" pitchFamily="18" charset="0"/>
                <a:ea typeface="Calibri" panose="020F0502020204030204" pitchFamily="34" charset="0"/>
                <a:cs typeface="Times New Roman" panose="02020603050405020304" pitchFamily="18" charset="0"/>
              </a:rPr>
              <a:t>Product details</a:t>
            </a:r>
          </a:p>
          <a:p>
            <a:pPr>
              <a:buFont typeface="Wingdings" panose="05000000000000000000" pitchFamily="2" charset="2"/>
              <a:buChar char="ü"/>
            </a:pPr>
            <a:r>
              <a:rPr lang="en-US" sz="2000" dirty="0">
                <a:latin typeface="Times New Roman" panose="02020603050405020304" pitchFamily="18" charset="0"/>
                <a:ea typeface="Calibri" panose="020F0502020204030204" pitchFamily="34" charset="0"/>
                <a:cs typeface="Times New Roman" panose="02020603050405020304" pitchFamily="18" charset="0"/>
              </a:rPr>
              <a:t>Sales orders</a:t>
            </a:r>
          </a:p>
          <a:p>
            <a:pPr>
              <a:buFont typeface="Wingdings" panose="05000000000000000000" pitchFamily="2" charset="2"/>
              <a:buChar char="ü"/>
            </a:pPr>
            <a:r>
              <a:rPr lang="en-US" sz="2000" dirty="0">
                <a:latin typeface="Times New Roman" panose="02020603050405020304" pitchFamily="18" charset="0"/>
                <a:ea typeface="Calibri" panose="020F0502020204030204" pitchFamily="34" charset="0"/>
                <a:cs typeface="Times New Roman" panose="02020603050405020304" pitchFamily="18" charset="0"/>
              </a:rPr>
              <a:t>Customer information</a:t>
            </a:r>
          </a:p>
          <a:p>
            <a:pPr>
              <a:buFont typeface="Wingdings" panose="05000000000000000000" pitchFamily="2" charset="2"/>
              <a:buChar char="ü"/>
            </a:pPr>
            <a:r>
              <a:rPr lang="en-US" sz="2000" dirty="0">
                <a:latin typeface="Times New Roman" panose="02020603050405020304" pitchFamily="18" charset="0"/>
                <a:ea typeface="Calibri" panose="020F0502020204030204" pitchFamily="34" charset="0"/>
                <a:cs typeface="Times New Roman" panose="02020603050405020304" pitchFamily="18" charset="0"/>
              </a:rPr>
              <a:t>Order quantity</a:t>
            </a:r>
          </a:p>
          <a:p>
            <a:pPr>
              <a:buFont typeface="Wingdings" panose="05000000000000000000" pitchFamily="2" charset="2"/>
              <a:buChar char="ü"/>
            </a:pPr>
            <a:r>
              <a:rPr lang="en-US" sz="2000" dirty="0">
                <a:latin typeface="Times New Roman" panose="02020603050405020304" pitchFamily="18" charset="0"/>
                <a:ea typeface="Calibri" panose="020F0502020204030204" pitchFamily="34" charset="0"/>
                <a:cs typeface="Times New Roman" panose="02020603050405020304" pitchFamily="18" charset="0"/>
              </a:rPr>
              <a:t>Unit price</a:t>
            </a:r>
          </a:p>
          <a:p>
            <a:pPr>
              <a:buFont typeface="Wingdings" panose="05000000000000000000" pitchFamily="2" charset="2"/>
              <a:buChar char="ü"/>
            </a:pPr>
            <a:r>
              <a:rPr lang="en-US" sz="2000" dirty="0">
                <a:latin typeface="Times New Roman" panose="02020603050405020304" pitchFamily="18" charset="0"/>
                <a:ea typeface="Calibri" panose="020F0502020204030204" pitchFamily="34" charset="0"/>
                <a:cs typeface="Times New Roman" panose="02020603050405020304" pitchFamily="18" charset="0"/>
              </a:rPr>
              <a:t>Unit cost </a:t>
            </a:r>
          </a:p>
          <a:p>
            <a:pPr>
              <a:buFont typeface="Wingdings" panose="05000000000000000000" pitchFamily="2" charset="2"/>
              <a:buChar char="ü"/>
            </a:pPr>
            <a:r>
              <a:rPr lang="en-US" sz="2000" dirty="0">
                <a:latin typeface="Times New Roman" panose="02020603050405020304" pitchFamily="18" charset="0"/>
                <a:ea typeface="Calibri" panose="020F0502020204030204" pitchFamily="34" charset="0"/>
                <a:cs typeface="Times New Roman" panose="02020603050405020304" pitchFamily="18" charset="0"/>
              </a:rPr>
              <a:t>Discount </a:t>
            </a:r>
          </a:p>
          <a:p>
            <a:pPr marL="0" indent="0">
              <a:buNone/>
            </a:pPr>
            <a:r>
              <a:rPr lang="en-US" sz="2000" dirty="0">
                <a:latin typeface="Times New Roman" panose="02020603050405020304" pitchFamily="18" charset="0"/>
                <a:cs typeface="Times New Roman" panose="02020603050405020304" pitchFamily="18" charset="0"/>
              </a:rPr>
              <a:t>This data helps analyze business performance using calculations, charts and dashboards.</a:t>
            </a:r>
          </a:p>
        </p:txBody>
      </p:sp>
      <p:pic>
        <p:nvPicPr>
          <p:cNvPr id="8194" name="Picture 2" descr="What is a Dataset: Types, Features and ...">
            <a:extLst>
              <a:ext uri="{FF2B5EF4-FFF2-40B4-BE49-F238E27FC236}">
                <a16:creationId xmlns:a16="http://schemas.microsoft.com/office/drawing/2014/main" id="{2D56DE7B-1FA7-FBBB-C74B-B81FA593DF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018" y="2312043"/>
            <a:ext cx="4190036" cy="22339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Slide Number Placeholder 3">
            <a:extLst>
              <a:ext uri="{FF2B5EF4-FFF2-40B4-BE49-F238E27FC236}">
                <a16:creationId xmlns:a16="http://schemas.microsoft.com/office/drawing/2014/main" id="{681B8510-A6EB-8E22-948F-57D329BBED80}"/>
              </a:ext>
            </a:extLst>
          </p:cNvPr>
          <p:cNvSpPr>
            <a:spLocks noGrp="1"/>
          </p:cNvSpPr>
          <p:nvPr>
            <p:ph type="sldNum" sz="quarter" idx="12"/>
          </p:nvPr>
        </p:nvSpPr>
        <p:spPr/>
        <p:txBody>
          <a:bodyPr/>
          <a:lstStyle/>
          <a:p>
            <a:fld id="{3B06BDC6-2085-4652-A5CE-18954849DE2F}" type="slidenum">
              <a:rPr lang="en-IN" smtClean="0"/>
              <a:t>3</a:t>
            </a:fld>
            <a:endParaRPr lang="en-IN"/>
          </a:p>
        </p:txBody>
      </p:sp>
    </p:spTree>
    <p:extLst>
      <p:ext uri="{BB962C8B-B14F-4D97-AF65-F5344CB8AC3E}">
        <p14:creationId xmlns:p14="http://schemas.microsoft.com/office/powerpoint/2010/main" val="172571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F5C3-02CC-0D2F-08BB-149D81859F7B}"/>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OBJECTIVE OF THE STUDY</a:t>
            </a:r>
          </a:p>
        </p:txBody>
      </p:sp>
      <p:sp>
        <p:nvSpPr>
          <p:cNvPr id="3" name="Content Placeholder 2">
            <a:extLst>
              <a:ext uri="{FF2B5EF4-FFF2-40B4-BE49-F238E27FC236}">
                <a16:creationId xmlns:a16="http://schemas.microsoft.com/office/drawing/2014/main" id="{61E867BB-EBFC-8F47-706B-14BEC5048B0F}"/>
              </a:ext>
            </a:extLst>
          </p:cNvPr>
          <p:cNvSpPr>
            <a:spLocks noGrp="1"/>
          </p:cNvSpPr>
          <p:nvPr>
            <p:ph sz="half"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To analyze sales performance of Adventure Works.</a:t>
            </a:r>
          </a:p>
          <a:p>
            <a:pPr>
              <a:lnSpc>
                <a:spcPct val="150000"/>
              </a:lnSpc>
            </a:pPr>
            <a:r>
              <a:rPr lang="en-US" sz="2000" dirty="0">
                <a:latin typeface="Times New Roman" panose="02020603050405020304" pitchFamily="18" charset="0"/>
                <a:cs typeface="Times New Roman" panose="02020603050405020304" pitchFamily="18" charset="0"/>
              </a:rPr>
              <a:t>To evaluate profit and cost structure.</a:t>
            </a:r>
          </a:p>
          <a:p>
            <a:pPr>
              <a:lnSpc>
                <a:spcPct val="150000"/>
              </a:lnSpc>
            </a:pPr>
            <a:r>
              <a:rPr lang="en-US" sz="2000" dirty="0">
                <a:latin typeface="Times New Roman" panose="02020603050405020304" pitchFamily="18" charset="0"/>
                <a:cs typeface="Times New Roman" panose="02020603050405020304" pitchFamily="18" charset="0"/>
              </a:rPr>
              <a:t>To identify top-performing products.</a:t>
            </a:r>
          </a:p>
          <a:p>
            <a:pPr>
              <a:lnSpc>
                <a:spcPct val="150000"/>
              </a:lnSpc>
            </a:pPr>
            <a:r>
              <a:rPr lang="en-US" sz="2000" dirty="0">
                <a:latin typeface="Times New Roman" panose="02020603050405020304" pitchFamily="18" charset="0"/>
                <a:cs typeface="Times New Roman" panose="02020603050405020304" pitchFamily="18" charset="0"/>
              </a:rPr>
              <a:t>To analyze monthly and yearly sales trends.</a:t>
            </a:r>
          </a:p>
          <a:p>
            <a:pPr>
              <a:lnSpc>
                <a:spcPct val="150000"/>
              </a:lnSpc>
            </a:pPr>
            <a:r>
              <a:rPr lang="en-US" sz="2000" dirty="0">
                <a:latin typeface="Times New Roman" panose="02020603050405020304" pitchFamily="18" charset="0"/>
                <a:cs typeface="Times New Roman" panose="02020603050405020304" pitchFamily="18" charset="0"/>
              </a:rPr>
              <a:t>To understand regional sales performance.</a:t>
            </a:r>
          </a:p>
          <a:p>
            <a:pPr>
              <a:lnSpc>
                <a:spcPct val="150000"/>
              </a:lnSpc>
            </a:pPr>
            <a:r>
              <a:rPr lang="en-US" sz="2000" dirty="0">
                <a:latin typeface="Times New Roman" panose="02020603050405020304" pitchFamily="18" charset="0"/>
                <a:cs typeface="Times New Roman" panose="02020603050405020304" pitchFamily="18" charset="0"/>
              </a:rPr>
              <a:t>To provide suggestions for improving business performance.</a:t>
            </a: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DC44E10-C766-31B8-6831-9E90DB5B0F4A}"/>
              </a:ext>
            </a:extLst>
          </p:cNvPr>
          <p:cNvSpPr>
            <a:spLocks noGrp="1"/>
          </p:cNvSpPr>
          <p:nvPr>
            <p:ph sz="half" idx="2"/>
          </p:nvPr>
        </p:nvSpPr>
        <p:spPr>
          <a:xfrm>
            <a:off x="6172202" y="1825625"/>
            <a:ext cx="5181600" cy="4351338"/>
          </a:xfrm>
        </p:spPr>
        <p:txBody>
          <a:bodyPr>
            <a:norm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Key Focus Areas:</a:t>
            </a:r>
          </a:p>
          <a:p>
            <a:pPr marL="342900" indent="-342900">
              <a:lnSpc>
                <a:spcPct val="150000"/>
              </a:lnSpc>
            </a:pPr>
            <a:r>
              <a:rPr lang="en-US" sz="2000" dirty="0">
                <a:latin typeface="Times New Roman" panose="02020603050405020304" pitchFamily="18" charset="0"/>
                <a:cs typeface="Times New Roman" panose="02020603050405020304" pitchFamily="18" charset="0"/>
              </a:rPr>
              <a:t>Sales Performance</a:t>
            </a:r>
          </a:p>
          <a:p>
            <a:pPr marL="342900" indent="-342900">
              <a:lnSpc>
                <a:spcPct val="150000"/>
              </a:lnSpc>
            </a:pPr>
            <a:r>
              <a:rPr lang="en-US" sz="2000" dirty="0">
                <a:latin typeface="Times New Roman" panose="02020603050405020304" pitchFamily="18" charset="0"/>
                <a:cs typeface="Times New Roman" panose="02020603050405020304" pitchFamily="18" charset="0"/>
              </a:rPr>
              <a:t>Customer Behavior</a:t>
            </a:r>
          </a:p>
          <a:p>
            <a:pPr marL="342900" indent="-342900">
              <a:lnSpc>
                <a:spcPct val="150000"/>
              </a:lnSpc>
            </a:pPr>
            <a:r>
              <a:rPr lang="en-US" sz="2000" dirty="0">
                <a:latin typeface="Times New Roman" panose="02020603050405020304" pitchFamily="18" charset="0"/>
                <a:cs typeface="Times New Roman" panose="02020603050405020304" pitchFamily="18" charset="0"/>
              </a:rPr>
              <a:t>Product Analysis</a:t>
            </a:r>
          </a:p>
          <a:p>
            <a:pPr marL="342900" indent="-342900">
              <a:lnSpc>
                <a:spcPct val="150000"/>
              </a:lnSpc>
            </a:pPr>
            <a:r>
              <a:rPr lang="en-US" sz="2000" dirty="0">
                <a:latin typeface="Times New Roman" panose="02020603050405020304" pitchFamily="18" charset="0"/>
                <a:cs typeface="Times New Roman" panose="02020603050405020304" pitchFamily="18" charset="0"/>
              </a:rPr>
              <a:t>Operational Efficiency</a:t>
            </a:r>
          </a:p>
        </p:txBody>
      </p:sp>
      <p:sp>
        <p:nvSpPr>
          <p:cNvPr id="5" name="Slide Number Placeholder 4">
            <a:extLst>
              <a:ext uri="{FF2B5EF4-FFF2-40B4-BE49-F238E27FC236}">
                <a16:creationId xmlns:a16="http://schemas.microsoft.com/office/drawing/2014/main" id="{CDCF8137-4E5C-FA3B-1917-0DD819C9C7BC}"/>
              </a:ext>
            </a:extLst>
          </p:cNvPr>
          <p:cNvSpPr>
            <a:spLocks noGrp="1"/>
          </p:cNvSpPr>
          <p:nvPr>
            <p:ph type="sldNum" sz="quarter" idx="12"/>
          </p:nvPr>
        </p:nvSpPr>
        <p:spPr/>
        <p:txBody>
          <a:bodyPr/>
          <a:lstStyle/>
          <a:p>
            <a:fld id="{3B06BDC6-2085-4652-A5CE-18954849DE2F}" type="slidenum">
              <a:rPr lang="en-IN" smtClean="0"/>
              <a:t>4</a:t>
            </a:fld>
            <a:endParaRPr lang="en-IN"/>
          </a:p>
        </p:txBody>
      </p:sp>
    </p:spTree>
    <p:extLst>
      <p:ext uri="{BB962C8B-B14F-4D97-AF65-F5344CB8AC3E}">
        <p14:creationId xmlns:p14="http://schemas.microsoft.com/office/powerpoint/2010/main" val="1304603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951D0-41A4-E3A2-66CD-AE589D74091F}"/>
              </a:ext>
            </a:extLst>
          </p:cNvPr>
          <p:cNvSpPr>
            <a:spLocks noGrp="1"/>
          </p:cNvSpPr>
          <p:nvPr>
            <p:ph type="title"/>
          </p:nvPr>
        </p:nvSpPr>
        <p:spPr>
          <a:xfrm>
            <a:off x="838200" y="365125"/>
            <a:ext cx="10515600" cy="867599"/>
          </a:xfrm>
        </p:spPr>
        <p:txBody>
          <a:bodyPr/>
          <a:lstStyle/>
          <a:p>
            <a:pPr algn="ctr"/>
            <a:r>
              <a:rPr lang="en-US" b="1" dirty="0">
                <a:latin typeface="Times New Roman" panose="02020603050405020304" pitchFamily="18" charset="0"/>
                <a:cs typeface="Times New Roman" panose="02020603050405020304" pitchFamily="18" charset="0"/>
              </a:rPr>
              <a:t>Tools &amp; </a:t>
            </a:r>
            <a:r>
              <a:rPr lang="en-US" sz="4000" b="1" dirty="0">
                <a:latin typeface="Times New Roman" panose="02020603050405020304" pitchFamily="18" charset="0"/>
                <a:cs typeface="Times New Roman" panose="02020603050405020304" pitchFamily="18" charset="0"/>
              </a:rPr>
              <a:t>Technologies</a:t>
            </a:r>
            <a:r>
              <a:rPr lang="en-US" b="1" dirty="0">
                <a:latin typeface="Times New Roman" panose="02020603050405020304" pitchFamily="18" charset="0"/>
                <a:cs typeface="Times New Roman" panose="02020603050405020304" pitchFamily="18" charset="0"/>
              </a:rPr>
              <a:t> Used</a:t>
            </a:r>
            <a:endParaRPr lang="en-IN" dirty="0"/>
          </a:p>
        </p:txBody>
      </p:sp>
      <p:sp>
        <p:nvSpPr>
          <p:cNvPr id="3" name="Content Placeholder 2">
            <a:extLst>
              <a:ext uri="{FF2B5EF4-FFF2-40B4-BE49-F238E27FC236}">
                <a16:creationId xmlns:a16="http://schemas.microsoft.com/office/drawing/2014/main" id="{282137C1-6326-4A07-AF70-3FBA552CC537}"/>
              </a:ext>
            </a:extLst>
          </p:cNvPr>
          <p:cNvSpPr>
            <a:spLocks noGrp="1"/>
          </p:cNvSpPr>
          <p:nvPr>
            <p:ph idx="1"/>
          </p:nvPr>
        </p:nvSpPr>
        <p:spPr>
          <a:xfrm>
            <a:off x="838200" y="1412111"/>
            <a:ext cx="10515600" cy="4764852"/>
          </a:xfrm>
        </p:spPr>
        <p:txBody>
          <a:bodyPr>
            <a:normAutofit/>
          </a:bodyPr>
          <a:lstStyle/>
          <a:p>
            <a:pPr>
              <a:lnSpc>
                <a:spcPct val="100000"/>
              </a:lnSpc>
            </a:pPr>
            <a:r>
              <a:rPr lang="en-US" sz="2400" b="1" dirty="0">
                <a:latin typeface="Times New Roman" panose="02020603050405020304" pitchFamily="18" charset="0"/>
                <a:cs typeface="Times New Roman" panose="02020603050405020304" pitchFamily="18" charset="0"/>
              </a:rPr>
              <a:t>Excel: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for data cleaning, transformation, and building relationships. Applied Pivot Table for analysis and created charts for initial insights.</a:t>
            </a:r>
          </a:p>
          <a:p>
            <a:pPr>
              <a:lnSpc>
                <a:spcPct val="100000"/>
              </a:lnSpc>
            </a:pPr>
            <a:r>
              <a:rPr lang="en-US" sz="2400" b="1" dirty="0">
                <a:latin typeface="Times New Roman" panose="02020603050405020304" pitchFamily="18" charset="0"/>
                <a:cs typeface="Times New Roman" panose="02020603050405020304" pitchFamily="18" charset="0"/>
              </a:rPr>
              <a:t>Power BI:</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for data modeling and creating DAX measures. Built interactive dashboards with KPI cards, performed trend analysis, customer segmentation, and developed business reports.</a:t>
            </a:r>
          </a:p>
          <a:p>
            <a:pPr>
              <a:lnSpc>
                <a:spcPct val="100000"/>
              </a:lnSpc>
            </a:pPr>
            <a:r>
              <a:rPr lang="en-US" sz="2400" b="1" dirty="0">
                <a:latin typeface="Times New Roman" panose="02020603050405020304" pitchFamily="18" charset="0"/>
                <a:cs typeface="Times New Roman" panose="02020603050405020304" pitchFamily="18" charset="0"/>
              </a:rPr>
              <a:t>Tableau:</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design interactive dashboards and create effective data visualizations. Performed trend analysis and enabled user-driven insights through filters and interactions.</a:t>
            </a:r>
          </a:p>
          <a:p>
            <a:pPr>
              <a:lnSpc>
                <a:spcPct val="100000"/>
              </a:lnSpc>
            </a:pPr>
            <a:r>
              <a:rPr lang="en-US" sz="2400" b="1" dirty="0">
                <a:latin typeface="Times New Roman" panose="02020603050405020304" pitchFamily="18" charset="0"/>
                <a:cs typeface="Times New Roman" panose="02020603050405020304" pitchFamily="18" charset="0"/>
              </a:rPr>
              <a:t>SQL: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for data extraction and querying. Applied joins, aggregations, filtering, and subqueries to analyze data and calculate key performance indicators (KPIs).</a:t>
            </a:r>
          </a:p>
        </p:txBody>
      </p:sp>
      <p:sp>
        <p:nvSpPr>
          <p:cNvPr id="4" name="Slide Number Placeholder 3">
            <a:extLst>
              <a:ext uri="{FF2B5EF4-FFF2-40B4-BE49-F238E27FC236}">
                <a16:creationId xmlns:a16="http://schemas.microsoft.com/office/drawing/2014/main" id="{967AFE43-85FA-A2B1-B276-914782BDF708}"/>
              </a:ext>
            </a:extLst>
          </p:cNvPr>
          <p:cNvSpPr>
            <a:spLocks noGrp="1"/>
          </p:cNvSpPr>
          <p:nvPr>
            <p:ph type="sldNum" sz="quarter" idx="12"/>
          </p:nvPr>
        </p:nvSpPr>
        <p:spPr/>
        <p:txBody>
          <a:bodyPr/>
          <a:lstStyle/>
          <a:p>
            <a:fld id="{3B06BDC6-2085-4652-A5CE-18954849DE2F}" type="slidenum">
              <a:rPr lang="en-IN" smtClean="0"/>
              <a:t>5</a:t>
            </a:fld>
            <a:endParaRPr lang="en-IN"/>
          </a:p>
        </p:txBody>
      </p:sp>
    </p:spTree>
    <p:extLst>
      <p:ext uri="{BB962C8B-B14F-4D97-AF65-F5344CB8AC3E}">
        <p14:creationId xmlns:p14="http://schemas.microsoft.com/office/powerpoint/2010/main" val="2189932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2587-E1BB-5C2A-105B-81EB111E1BA9}"/>
              </a:ext>
            </a:extLst>
          </p:cNvPr>
          <p:cNvSpPr>
            <a:spLocks noGrp="1"/>
          </p:cNvSpPr>
          <p:nvPr>
            <p:ph type="title"/>
          </p:nvPr>
        </p:nvSpPr>
        <p:spPr>
          <a:xfrm>
            <a:off x="839788" y="711468"/>
            <a:ext cx="10828940" cy="842553"/>
          </a:xfrm>
        </p:spPr>
        <p:txBody>
          <a:bodyPr>
            <a:normAutofit/>
          </a:bodyPr>
          <a:lstStyle/>
          <a:p>
            <a:pPr algn="ctr"/>
            <a:r>
              <a:rPr lang="en-IN" sz="4000" b="1" dirty="0">
                <a:latin typeface="Times New Roman" panose="02020603050405020304" pitchFamily="18" charset="0"/>
                <a:cs typeface="Times New Roman" panose="02020603050405020304" pitchFamily="18" charset="0"/>
              </a:rPr>
              <a:t>DATA PREPARATION</a:t>
            </a:r>
          </a:p>
        </p:txBody>
      </p:sp>
      <p:pic>
        <p:nvPicPr>
          <p:cNvPr id="2050" name="Picture 2" descr="Data preparation: definition, examples, advice [guide 2023]">
            <a:extLst>
              <a:ext uri="{FF2B5EF4-FFF2-40B4-BE49-F238E27FC236}">
                <a16:creationId xmlns:a16="http://schemas.microsoft.com/office/drawing/2014/main" id="{EA8D33CF-5B97-3E1F-49D4-F9CB600E67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6061" y="2145577"/>
            <a:ext cx="3832667" cy="363523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0D61BC4D-2EDC-B737-1696-197466702809}"/>
              </a:ext>
            </a:extLst>
          </p:cNvPr>
          <p:cNvSpPr>
            <a:spLocks noGrp="1" noChangeArrowheads="1"/>
          </p:cNvSpPr>
          <p:nvPr>
            <p:ph type="body" sz="half" idx="2"/>
          </p:nvPr>
        </p:nvSpPr>
        <p:spPr bwMode="auto">
          <a:xfrm>
            <a:off x="839788" y="1912836"/>
            <a:ext cx="6580189"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Performed data cleaning by removing duplicates and       correcting errors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Standardized data formats, including date and numeric fields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data transformation techniques to create calculated fields (e.g., profit)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Conducted data aggregation for year-wise and region-wise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data accuracy through validation and quality checks</a:t>
            </a:r>
          </a:p>
        </p:txBody>
      </p:sp>
      <p:sp>
        <p:nvSpPr>
          <p:cNvPr id="7" name="Slide Number Placeholder 6">
            <a:extLst>
              <a:ext uri="{FF2B5EF4-FFF2-40B4-BE49-F238E27FC236}">
                <a16:creationId xmlns:a16="http://schemas.microsoft.com/office/drawing/2014/main" id="{8C07F194-DCF6-59DE-25F1-FD36E7DD38A7}"/>
              </a:ext>
            </a:extLst>
          </p:cNvPr>
          <p:cNvSpPr>
            <a:spLocks noGrp="1"/>
          </p:cNvSpPr>
          <p:nvPr>
            <p:ph type="sldNum" sz="quarter" idx="12"/>
          </p:nvPr>
        </p:nvSpPr>
        <p:spPr/>
        <p:txBody>
          <a:bodyPr/>
          <a:lstStyle/>
          <a:p>
            <a:fld id="{3B06BDC6-2085-4652-A5CE-18954849DE2F}" type="slidenum">
              <a:rPr lang="en-IN" smtClean="0"/>
              <a:t>6</a:t>
            </a:fld>
            <a:endParaRPr lang="en-IN"/>
          </a:p>
        </p:txBody>
      </p:sp>
    </p:spTree>
    <p:extLst>
      <p:ext uri="{BB962C8B-B14F-4D97-AF65-F5344CB8AC3E}">
        <p14:creationId xmlns:p14="http://schemas.microsoft.com/office/powerpoint/2010/main" val="390031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0A11-63E5-60B9-24F4-9FA180A512B4}"/>
              </a:ext>
            </a:extLst>
          </p:cNvPr>
          <p:cNvSpPr>
            <a:spLocks noGrp="1"/>
          </p:cNvSpPr>
          <p:nvPr>
            <p:ph type="title"/>
          </p:nvPr>
        </p:nvSpPr>
        <p:spPr>
          <a:xfrm>
            <a:off x="838200" y="365125"/>
            <a:ext cx="10515600" cy="653447"/>
          </a:xfrm>
        </p:spPr>
        <p:txBody>
          <a:bodyPr>
            <a:normAutofit fontScale="90000"/>
          </a:bodyPr>
          <a:lstStyle/>
          <a:p>
            <a:r>
              <a:rPr lang="en-IN" b="1" dirty="0">
                <a:latin typeface="Times New Roman" panose="02020603050405020304" pitchFamily="18" charset="0"/>
                <a:cs typeface="Times New Roman" panose="02020603050405020304" pitchFamily="18" charset="0"/>
              </a:rPr>
              <a:t>FUNCTIONS AND CALCULATIONS USED</a:t>
            </a:r>
          </a:p>
        </p:txBody>
      </p:sp>
      <p:sp>
        <p:nvSpPr>
          <p:cNvPr id="3" name="Content Placeholder 2">
            <a:extLst>
              <a:ext uri="{FF2B5EF4-FFF2-40B4-BE49-F238E27FC236}">
                <a16:creationId xmlns:a16="http://schemas.microsoft.com/office/drawing/2014/main" id="{FDF51B3E-46F7-0EB2-7358-CF64C010E0E7}"/>
              </a:ext>
            </a:extLst>
          </p:cNvPr>
          <p:cNvSpPr>
            <a:spLocks noGrp="1"/>
          </p:cNvSpPr>
          <p:nvPr>
            <p:ph idx="1"/>
          </p:nvPr>
        </p:nvSpPr>
        <p:spPr>
          <a:xfrm>
            <a:off x="838200" y="1111170"/>
            <a:ext cx="7634468" cy="5065793"/>
          </a:xfrm>
        </p:spPr>
        <p:txBody>
          <a:bodyPr>
            <a:normAutofit/>
          </a:bodyPr>
          <a:lstStyle/>
          <a:p>
            <a:pPr marL="0" indent="0">
              <a:lnSpc>
                <a:spcPct val="110000"/>
              </a:lnSpc>
              <a:buNone/>
            </a:pPr>
            <a:r>
              <a:rPr lang="en-US" sz="2400" b="1" dirty="0">
                <a:latin typeface="Times New Roman" panose="02020603050405020304" pitchFamily="18" charset="0"/>
                <a:cs typeface="Times New Roman" panose="02020603050405020304" pitchFamily="18" charset="0"/>
              </a:rPr>
              <a:t>Excel Calculations &amp; Analysis:</a:t>
            </a:r>
          </a:p>
          <a:p>
            <a:pPr>
              <a:lnSpc>
                <a:spcPct val="110000"/>
              </a:lnSpc>
            </a:pPr>
            <a:r>
              <a:rPr lang="en-US" sz="2000" dirty="0">
                <a:latin typeface="Times New Roman" panose="02020603050405020304" pitchFamily="18" charset="0"/>
                <a:cs typeface="Times New Roman" panose="02020603050405020304" pitchFamily="18" charset="0"/>
              </a:rPr>
              <a:t>Calculated Sales Amount: Unit Price × Order Quantity − Discount</a:t>
            </a:r>
          </a:p>
          <a:p>
            <a:pPr>
              <a:lnSpc>
                <a:spcPct val="110000"/>
              </a:lnSpc>
            </a:pPr>
            <a:r>
              <a:rPr lang="en-US" sz="2000" dirty="0">
                <a:latin typeface="Times New Roman" panose="02020603050405020304" pitchFamily="18" charset="0"/>
                <a:cs typeface="Times New Roman" panose="02020603050405020304" pitchFamily="18" charset="0"/>
              </a:rPr>
              <a:t>Computed Production Cost: Unit Cost × Order Quantity</a:t>
            </a:r>
          </a:p>
          <a:p>
            <a:pPr>
              <a:lnSpc>
                <a:spcPct val="110000"/>
              </a:lnSpc>
            </a:pPr>
            <a:r>
              <a:rPr lang="en-US" sz="2000" dirty="0">
                <a:latin typeface="Times New Roman" panose="02020603050405020304" pitchFamily="18" charset="0"/>
                <a:cs typeface="Times New Roman" panose="02020603050405020304" pitchFamily="18" charset="0"/>
              </a:rPr>
              <a:t>Derived Profit: Sales Amount − Production Cost</a:t>
            </a:r>
          </a:p>
          <a:p>
            <a:pPr>
              <a:lnSpc>
                <a:spcPct val="110000"/>
              </a:lnSpc>
            </a:pPr>
            <a:r>
              <a:rPr lang="en-US" sz="2000" dirty="0">
                <a:latin typeface="Times New Roman" panose="02020603050405020304" pitchFamily="18" charset="0"/>
                <a:cs typeface="Times New Roman" panose="02020603050405020304" pitchFamily="18" charset="0"/>
              </a:rPr>
              <a:t>Used Pivot Tables to summarize sales by year, month, and region</a:t>
            </a:r>
          </a:p>
          <a:p>
            <a:pPr marL="0" indent="0">
              <a:lnSpc>
                <a:spcPct val="110000"/>
              </a:lnSpc>
              <a:buNone/>
            </a:pPr>
            <a:endParaRPr lang="en-US" sz="2000" dirty="0">
              <a:latin typeface="Times New Roman" panose="02020603050405020304" pitchFamily="18" charset="0"/>
              <a:cs typeface="Times New Roman" panose="02020603050405020304" pitchFamily="18" charset="0"/>
            </a:endParaRPr>
          </a:p>
          <a:p>
            <a:pPr marL="0" indent="0">
              <a:lnSpc>
                <a:spcPct val="110000"/>
              </a:lnSpc>
              <a:buNone/>
            </a:pPr>
            <a:r>
              <a:rPr lang="en-US" sz="2400" b="1" dirty="0">
                <a:latin typeface="Times New Roman" panose="02020603050405020304" pitchFamily="18" charset="0"/>
                <a:cs typeface="Times New Roman" panose="02020603050405020304" pitchFamily="18" charset="0"/>
              </a:rPr>
              <a:t>Power BI Calculations:</a:t>
            </a:r>
          </a:p>
          <a:p>
            <a:pPr>
              <a:lnSpc>
                <a:spcPct val="110000"/>
              </a:lnSpc>
            </a:pPr>
            <a:r>
              <a:rPr lang="en-US" sz="2000" dirty="0">
                <a:latin typeface="Times New Roman" panose="02020603050405020304" pitchFamily="18" charset="0"/>
                <a:cs typeface="Times New Roman" panose="02020603050405020304" pitchFamily="18" charset="0"/>
              </a:rPr>
              <a:t>Created DAX measures for KPIs such as Total Profit and Profit Margin</a:t>
            </a:r>
          </a:p>
          <a:p>
            <a:pPr>
              <a:lnSpc>
                <a:spcPct val="110000"/>
              </a:lnSpc>
            </a:pPr>
            <a:r>
              <a:rPr lang="en-US" sz="2000" dirty="0">
                <a:latin typeface="Times New Roman" panose="02020603050405020304" pitchFamily="18" charset="0"/>
                <a:cs typeface="Times New Roman" panose="02020603050405020304" pitchFamily="18" charset="0"/>
              </a:rPr>
              <a:t>Enabled dynamic analysis through calculated metrics and interactive dashboards</a:t>
            </a:r>
          </a:p>
          <a:p>
            <a:pPr marL="0" indent="0">
              <a:lnSpc>
                <a:spcPct val="100000"/>
              </a:lnSpc>
              <a:buNone/>
            </a:pPr>
            <a:endParaRPr lang="en-US" sz="2000" dirty="0">
              <a:latin typeface="Times New Roman" panose="02020603050405020304" pitchFamily="18" charset="0"/>
              <a:cs typeface="Times New Roman" panose="02020603050405020304" pitchFamily="18" charset="0"/>
            </a:endParaRPr>
          </a:p>
        </p:txBody>
      </p:sp>
      <p:pic>
        <p:nvPicPr>
          <p:cNvPr id="6146" name="Picture 2" descr="Excel Images - Free Download on Freepik">
            <a:extLst>
              <a:ext uri="{FF2B5EF4-FFF2-40B4-BE49-F238E27FC236}">
                <a16:creationId xmlns:a16="http://schemas.microsoft.com/office/drawing/2014/main" id="{B576317E-832D-8388-742B-E816A14197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714" y="1467614"/>
            <a:ext cx="1968661" cy="158810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48" name="Picture 4" descr="Power BI Logo, symbol, meaning, history, PNG, brand">
            <a:extLst>
              <a:ext uri="{FF2B5EF4-FFF2-40B4-BE49-F238E27FC236}">
                <a16:creationId xmlns:a16="http://schemas.microsoft.com/office/drawing/2014/main" id="{F9155DEC-86DB-DB9F-1DFD-7148DA927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5714" y="4317357"/>
            <a:ext cx="1968661" cy="138172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8ACFF92-12B5-F458-1587-A5FA6EF43DE3}"/>
              </a:ext>
            </a:extLst>
          </p:cNvPr>
          <p:cNvSpPr>
            <a:spLocks noGrp="1"/>
          </p:cNvSpPr>
          <p:nvPr>
            <p:ph type="sldNum" sz="quarter" idx="12"/>
          </p:nvPr>
        </p:nvSpPr>
        <p:spPr/>
        <p:txBody>
          <a:bodyPr/>
          <a:lstStyle/>
          <a:p>
            <a:fld id="{3B06BDC6-2085-4652-A5CE-18954849DE2F}" type="slidenum">
              <a:rPr lang="en-IN" smtClean="0"/>
              <a:t>7</a:t>
            </a:fld>
            <a:endParaRPr lang="en-IN"/>
          </a:p>
        </p:txBody>
      </p:sp>
    </p:spTree>
    <p:extLst>
      <p:ext uri="{BB962C8B-B14F-4D97-AF65-F5344CB8AC3E}">
        <p14:creationId xmlns:p14="http://schemas.microsoft.com/office/powerpoint/2010/main" val="3731597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BD68C-0C76-B4C9-B3EC-A34A16AEDFA9}"/>
              </a:ext>
            </a:extLst>
          </p:cNvPr>
          <p:cNvSpPr>
            <a:spLocks noGrp="1"/>
          </p:cNvSpPr>
          <p:nvPr>
            <p:ph idx="1"/>
          </p:nvPr>
        </p:nvSpPr>
        <p:spPr>
          <a:xfrm>
            <a:off x="838200" y="671332"/>
            <a:ext cx="7044159" cy="5505631"/>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Tableau Calculations:</a:t>
            </a:r>
          </a:p>
          <a:p>
            <a:r>
              <a:rPr lang="en-US" sz="2000" dirty="0">
                <a:latin typeface="Times New Roman" panose="02020603050405020304" pitchFamily="18" charset="0"/>
                <a:cs typeface="Times New Roman" panose="02020603050405020304" pitchFamily="18" charset="0"/>
              </a:rPr>
              <a:t>Created calculated fields for Sales, Profit, and Profit Ratio</a:t>
            </a:r>
          </a:p>
          <a:p>
            <a:r>
              <a:rPr lang="en-US" sz="2000" dirty="0">
                <a:latin typeface="Times New Roman" panose="02020603050405020304" pitchFamily="18" charset="0"/>
                <a:cs typeface="Times New Roman" panose="02020603050405020304" pitchFamily="18" charset="0"/>
              </a:rPr>
              <a:t>Applied table calculations (running totals, percentage growth) for trend analysis</a:t>
            </a:r>
          </a:p>
          <a:p>
            <a:r>
              <a:rPr lang="en-US" sz="2000" dirty="0">
                <a:latin typeface="Times New Roman" panose="02020603050405020304" pitchFamily="18" charset="0"/>
                <a:cs typeface="Times New Roman" panose="02020603050405020304" pitchFamily="18" charset="0"/>
              </a:rPr>
              <a:t>Supported interactive dashboards with dynamic calculations</a:t>
            </a:r>
          </a:p>
          <a:p>
            <a:pPr marL="0" indent="0">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SQL Calculations:</a:t>
            </a:r>
          </a:p>
          <a:p>
            <a:r>
              <a:rPr lang="en-US" sz="2000" dirty="0">
                <a:latin typeface="Times New Roman" panose="02020603050405020304" pitchFamily="18" charset="0"/>
                <a:cs typeface="Times New Roman" panose="02020603050405020304" pitchFamily="18" charset="0"/>
              </a:rPr>
              <a:t>Calculated Sales, Cost, and Profit using SQL expressions</a:t>
            </a:r>
          </a:p>
          <a:p>
            <a:r>
              <a:rPr lang="en-US" sz="2000" dirty="0">
                <a:latin typeface="Times New Roman" panose="02020603050405020304" pitchFamily="18" charset="0"/>
                <a:cs typeface="Times New Roman" panose="02020603050405020304" pitchFamily="18" charset="0"/>
              </a:rPr>
              <a:t>Used aggregations (SUM, AVG) to compute total metrics</a:t>
            </a:r>
          </a:p>
          <a:p>
            <a:r>
              <a:rPr lang="en-US" sz="2000" dirty="0">
                <a:latin typeface="Times New Roman" panose="02020603050405020304" pitchFamily="18" charset="0"/>
                <a:cs typeface="Times New Roman" panose="02020603050405020304" pitchFamily="18" charset="0"/>
              </a:rPr>
              <a:t>Applied GROUP BY for year-wise and region-wise analysis</a:t>
            </a:r>
          </a:p>
          <a:p>
            <a:r>
              <a:rPr lang="en-US" sz="2000" dirty="0">
                <a:latin typeface="Times New Roman" panose="02020603050405020304" pitchFamily="18" charset="0"/>
                <a:cs typeface="Times New Roman" panose="02020603050405020304" pitchFamily="18" charset="0"/>
              </a:rPr>
              <a:t>Performed KPI calculations directly within queries</a:t>
            </a:r>
          </a:p>
          <a:p>
            <a:pPr marL="0" indent="0">
              <a:buNone/>
            </a:pPr>
            <a:endParaRPr lang="en-IN" dirty="0"/>
          </a:p>
        </p:txBody>
      </p:sp>
      <p:pic>
        <p:nvPicPr>
          <p:cNvPr id="7170" name="Picture 2" descr="Tableau Logo Icons for Websites and Projects">
            <a:extLst>
              <a:ext uri="{FF2B5EF4-FFF2-40B4-BE49-F238E27FC236}">
                <a16:creationId xmlns:a16="http://schemas.microsoft.com/office/drawing/2014/main" id="{BA7DC6A5-0BF5-0BD6-370D-52B822013D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0381" y="1238491"/>
            <a:ext cx="1551008" cy="11921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261D1506-C5B2-4BD6-C0CB-A9D4C8CCADA4}"/>
              </a:ext>
            </a:extLst>
          </p:cNvPr>
          <p:cNvPicPr>
            <a:picLocks noChangeAspect="1"/>
          </p:cNvPicPr>
          <p:nvPr/>
        </p:nvPicPr>
        <p:blipFill>
          <a:blip r:embed="rId3"/>
          <a:stretch>
            <a:fillRect/>
          </a:stretch>
        </p:blipFill>
        <p:spPr>
          <a:xfrm>
            <a:off x="8970381" y="3672070"/>
            <a:ext cx="1551008" cy="1510496"/>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6" name="Slide Number Placeholder 5">
            <a:extLst>
              <a:ext uri="{FF2B5EF4-FFF2-40B4-BE49-F238E27FC236}">
                <a16:creationId xmlns:a16="http://schemas.microsoft.com/office/drawing/2014/main" id="{06C197E1-CC22-87F2-B620-EB156187A6EF}"/>
              </a:ext>
            </a:extLst>
          </p:cNvPr>
          <p:cNvSpPr>
            <a:spLocks noGrp="1"/>
          </p:cNvSpPr>
          <p:nvPr>
            <p:ph type="sldNum" sz="quarter" idx="12"/>
          </p:nvPr>
        </p:nvSpPr>
        <p:spPr/>
        <p:txBody>
          <a:bodyPr/>
          <a:lstStyle/>
          <a:p>
            <a:fld id="{3B06BDC6-2085-4652-A5CE-18954849DE2F}" type="slidenum">
              <a:rPr lang="en-IN" smtClean="0"/>
              <a:t>8</a:t>
            </a:fld>
            <a:endParaRPr lang="en-IN"/>
          </a:p>
        </p:txBody>
      </p:sp>
    </p:spTree>
    <p:extLst>
      <p:ext uri="{BB962C8B-B14F-4D97-AF65-F5344CB8AC3E}">
        <p14:creationId xmlns:p14="http://schemas.microsoft.com/office/powerpoint/2010/main" val="335935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7F2B7-48D1-0E55-4FC3-D3021944CA01}"/>
              </a:ext>
            </a:extLst>
          </p:cNvPr>
          <p:cNvSpPr>
            <a:spLocks noGrp="1"/>
          </p:cNvSpPr>
          <p:nvPr>
            <p:ph type="title"/>
          </p:nvPr>
        </p:nvSpPr>
        <p:spPr>
          <a:xfrm>
            <a:off x="839788" y="457200"/>
            <a:ext cx="10619149" cy="1302152"/>
          </a:xfrm>
        </p:spPr>
        <p:txBody>
          <a:bodyPr>
            <a:noAutofit/>
          </a:bodyPr>
          <a:lstStyle/>
          <a:p>
            <a:pPr algn="ctr"/>
            <a:r>
              <a:rPr lang="en-US" sz="4000" b="1" dirty="0">
                <a:latin typeface="Times New Roman" panose="02020603050405020304" pitchFamily="18" charset="0"/>
                <a:cs typeface="Times New Roman" panose="02020603050405020304" pitchFamily="18" charset="0"/>
              </a:rPr>
              <a:t>DASHBOARD OVERVIEW</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(EXCEL)</a:t>
            </a:r>
            <a:endParaRPr lang="en-IN" sz="4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9373EBE5-F0F1-0C3F-634C-6733AC683062}"/>
              </a:ext>
            </a:extLst>
          </p:cNvPr>
          <p:cNvSpPr>
            <a:spLocks noGrp="1"/>
          </p:cNvSpPr>
          <p:nvPr>
            <p:ph type="body" sz="half" idx="2"/>
          </p:nvPr>
        </p:nvSpPr>
        <p:spPr>
          <a:xfrm>
            <a:off x="481378" y="1894367"/>
            <a:ext cx="5305964" cy="3811588"/>
          </a:xfrm>
        </p:spPr>
        <p:txBody>
          <a:bodyPr>
            <a:normAutofit fontScale="92500" lnSpcReduction="10000"/>
          </a:bodyPr>
          <a:lstStyle/>
          <a:p>
            <a:r>
              <a:rPr lang="en-US" sz="1700" dirty="0">
                <a:latin typeface="Times New Roman" panose="02020603050405020304" pitchFamily="18" charset="0"/>
                <a:cs typeface="Times New Roman" panose="02020603050405020304" pitchFamily="18" charset="0"/>
              </a:rPr>
              <a:t>This dashboard provides a comprehensive view of sales performance, profitability, and customer insights, enabling data-driven decision-making.</a:t>
            </a:r>
          </a:p>
          <a:p>
            <a:r>
              <a:rPr lang="en-US" sz="1700" dirty="0">
                <a:latin typeface="Times New Roman" panose="02020603050405020304" pitchFamily="18" charset="0"/>
                <a:cs typeface="Times New Roman" panose="02020603050405020304" pitchFamily="18" charset="0"/>
              </a:rPr>
              <a:t>KPIs: Tracks Total Sales (29,359K), Profit (12,081K), Orders, AOV, and Customers to measure overall performance</a:t>
            </a:r>
          </a:p>
          <a:p>
            <a:r>
              <a:rPr lang="en-US" sz="1700" dirty="0">
                <a:latin typeface="Times New Roman" panose="02020603050405020304" pitchFamily="18" charset="0"/>
                <a:cs typeface="Times New Roman" panose="02020603050405020304" pitchFamily="18" charset="0"/>
              </a:rPr>
              <a:t>Sales Analysis: Year-wise and monthly trends highlight growth patterns and seasonal fluctuations</a:t>
            </a:r>
          </a:p>
          <a:p>
            <a:r>
              <a:rPr lang="en-US" sz="1700" dirty="0">
                <a:latin typeface="Times New Roman" panose="02020603050405020304" pitchFamily="18" charset="0"/>
                <a:cs typeface="Times New Roman" panose="02020603050405020304" pitchFamily="18" charset="0"/>
              </a:rPr>
              <a:t>Profitability: Sales vs Production analysis shows cost efficiency and profit margins</a:t>
            </a:r>
          </a:p>
          <a:p>
            <a:r>
              <a:rPr lang="en-US" sz="1700" dirty="0">
                <a:latin typeface="Times New Roman" panose="02020603050405020304" pitchFamily="18" charset="0"/>
                <a:cs typeface="Times New Roman" panose="02020603050405020304" pitchFamily="18" charset="0"/>
              </a:rPr>
              <a:t>Product Insights: Identifies top-performing products contributing to revenue</a:t>
            </a:r>
          </a:p>
          <a:p>
            <a:r>
              <a:rPr lang="en-US" sz="1700" dirty="0">
                <a:latin typeface="Times New Roman" panose="02020603050405020304" pitchFamily="18" charset="0"/>
                <a:cs typeface="Times New Roman" panose="02020603050405020304" pitchFamily="18" charset="0"/>
              </a:rPr>
              <a:t>Regional Performance: Highlights sales distribution across countries to identify key markets</a:t>
            </a:r>
          </a:p>
          <a:p>
            <a:r>
              <a:rPr lang="en-US" sz="1700" dirty="0">
                <a:latin typeface="Times New Roman" panose="02020603050405020304" pitchFamily="18" charset="0"/>
                <a:cs typeface="Times New Roman" panose="02020603050405020304" pitchFamily="18" charset="0"/>
              </a:rPr>
              <a:t>Interactive Filters: Allows dynamic analysis by month, region, and product category</a:t>
            </a:r>
          </a:p>
          <a:p>
            <a:endParaRPr lang="en-IN" dirty="0"/>
          </a:p>
        </p:txBody>
      </p:sp>
      <p:pic>
        <p:nvPicPr>
          <p:cNvPr id="10" name="Picture 9">
            <a:extLst>
              <a:ext uri="{FF2B5EF4-FFF2-40B4-BE49-F238E27FC236}">
                <a16:creationId xmlns:a16="http://schemas.microsoft.com/office/drawing/2014/main" id="{BD1AD797-BDB3-5A60-E33F-751A936F8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7342" y="2346959"/>
            <a:ext cx="5923280" cy="26517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Slide Number Placeholder 10">
            <a:extLst>
              <a:ext uri="{FF2B5EF4-FFF2-40B4-BE49-F238E27FC236}">
                <a16:creationId xmlns:a16="http://schemas.microsoft.com/office/drawing/2014/main" id="{700EFCCA-43B8-1A50-F20F-7255769C6606}"/>
              </a:ext>
            </a:extLst>
          </p:cNvPr>
          <p:cNvSpPr>
            <a:spLocks noGrp="1"/>
          </p:cNvSpPr>
          <p:nvPr>
            <p:ph type="sldNum" sz="quarter" idx="12"/>
          </p:nvPr>
        </p:nvSpPr>
        <p:spPr/>
        <p:txBody>
          <a:bodyPr/>
          <a:lstStyle/>
          <a:p>
            <a:fld id="{3B06BDC6-2085-4652-A5CE-18954849DE2F}" type="slidenum">
              <a:rPr lang="en-IN" smtClean="0"/>
              <a:t>9</a:t>
            </a:fld>
            <a:endParaRPr lang="en-IN"/>
          </a:p>
        </p:txBody>
      </p:sp>
    </p:spTree>
    <p:extLst>
      <p:ext uri="{BB962C8B-B14F-4D97-AF65-F5344CB8AC3E}">
        <p14:creationId xmlns:p14="http://schemas.microsoft.com/office/powerpoint/2010/main" val="4204124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197AE-0242-CD5A-CCBE-37BD8224F97F}"/>
              </a:ext>
            </a:extLst>
          </p:cNvPr>
          <p:cNvSpPr>
            <a:spLocks noGrp="1"/>
          </p:cNvSpPr>
          <p:nvPr>
            <p:ph type="title"/>
          </p:nvPr>
        </p:nvSpPr>
        <p:spPr>
          <a:xfrm>
            <a:off x="839788" y="457200"/>
            <a:ext cx="10515600" cy="642395"/>
          </a:xfrm>
        </p:spPr>
        <p:txBody>
          <a:bodyPr>
            <a:normAutofit/>
          </a:bodyPr>
          <a:lstStyle/>
          <a:p>
            <a:pPr algn="ctr"/>
            <a:r>
              <a:rPr lang="en-IN" sz="4000" b="1" dirty="0">
                <a:latin typeface="Times New Roman" panose="02020603050405020304" pitchFamily="18" charset="0"/>
                <a:cs typeface="Times New Roman" panose="02020603050405020304" pitchFamily="18" charset="0"/>
              </a:rPr>
              <a:t>SQL QUERIES FOR KPI’s</a:t>
            </a:r>
          </a:p>
        </p:txBody>
      </p:sp>
      <p:sp>
        <p:nvSpPr>
          <p:cNvPr id="4" name="Text Placeholder 3">
            <a:extLst>
              <a:ext uri="{FF2B5EF4-FFF2-40B4-BE49-F238E27FC236}">
                <a16:creationId xmlns:a16="http://schemas.microsoft.com/office/drawing/2014/main" id="{344775C9-8D1E-B1C8-80C7-6C13AE128096}"/>
              </a:ext>
            </a:extLst>
          </p:cNvPr>
          <p:cNvSpPr>
            <a:spLocks noGrp="1"/>
          </p:cNvSpPr>
          <p:nvPr>
            <p:ph type="body" sz="half" idx="2"/>
          </p:nvPr>
        </p:nvSpPr>
        <p:spPr>
          <a:xfrm>
            <a:off x="839788" y="1180618"/>
            <a:ext cx="3932237" cy="4688370"/>
          </a:xfrm>
        </p:spPr>
        <p:txBody>
          <a:bodyPr>
            <a:normAutofit fontScale="92500" lnSpcReduction="20000"/>
          </a:bodyPr>
          <a:lstStyle/>
          <a:p>
            <a:pPr>
              <a:lnSpc>
                <a:spcPct val="120000"/>
              </a:lnSpc>
            </a:pPr>
            <a:r>
              <a:rPr lang="en-US" b="1" dirty="0">
                <a:latin typeface="Times New Roman" panose="02020603050405020304" pitchFamily="18" charset="0"/>
                <a:cs typeface="Times New Roman" panose="02020603050405020304" pitchFamily="18" charset="0"/>
              </a:rPr>
              <a:t>Total Orders : </a:t>
            </a:r>
          </a:p>
          <a:p>
            <a:pPr>
              <a:lnSpc>
                <a:spcPct val="120000"/>
              </a:lnSpc>
            </a:pPr>
            <a:r>
              <a:rPr lang="en-US" dirty="0">
                <a:latin typeface="Times New Roman" panose="02020603050405020304" pitchFamily="18" charset="0"/>
                <a:cs typeface="Times New Roman" panose="02020603050405020304" pitchFamily="18" charset="0"/>
              </a:rPr>
              <a:t>Total number of orders placed = 60,398 Indicates overall business transaction volume</a:t>
            </a:r>
          </a:p>
          <a:p>
            <a:pPr>
              <a:lnSpc>
                <a:spcPct val="120000"/>
              </a:lnSpc>
            </a:pPr>
            <a:r>
              <a:rPr lang="en-US" b="1" dirty="0">
                <a:latin typeface="Times New Roman" panose="02020603050405020304" pitchFamily="18" charset="0"/>
                <a:cs typeface="Times New Roman" panose="02020603050405020304" pitchFamily="18" charset="0"/>
              </a:rPr>
              <a:t>Total Customers:</a:t>
            </a:r>
          </a:p>
          <a:p>
            <a:pPr>
              <a:lnSpc>
                <a:spcPct val="120000"/>
              </a:lnSpc>
            </a:pPr>
            <a:r>
              <a:rPr lang="en-US" dirty="0">
                <a:latin typeface="Times New Roman" panose="02020603050405020304" pitchFamily="18" charset="0"/>
                <a:cs typeface="Times New Roman" panose="02020603050405020304" pitchFamily="18" charset="0"/>
              </a:rPr>
              <a:t>Unique customers = 18,484 Shows customer base size</a:t>
            </a:r>
          </a:p>
          <a:p>
            <a:pPr>
              <a:lnSpc>
                <a:spcPct val="120000"/>
              </a:lnSpc>
            </a:pPr>
            <a:r>
              <a:rPr lang="en-US" sz="1700" b="1" dirty="0">
                <a:latin typeface="Times New Roman" panose="02020603050405020304" pitchFamily="18" charset="0"/>
                <a:cs typeface="Times New Roman" panose="02020603050405020304" pitchFamily="18" charset="0"/>
              </a:rPr>
              <a:t>Total Sales :</a:t>
            </a:r>
          </a:p>
          <a:p>
            <a:pPr>
              <a:lnSpc>
                <a:spcPct val="120000"/>
              </a:lnSpc>
            </a:pPr>
            <a:r>
              <a:rPr lang="en-US" dirty="0">
                <a:latin typeface="Times New Roman" panose="02020603050405020304" pitchFamily="18" charset="0"/>
                <a:cs typeface="Times New Roman" panose="02020603050405020304" pitchFamily="18" charset="0"/>
              </a:rPr>
              <a:t>Total revenue generated = 29,358,677 Calculated using Unit Price × Order Quantity</a:t>
            </a:r>
          </a:p>
          <a:p>
            <a:pPr>
              <a:lnSpc>
                <a:spcPct val="120000"/>
              </a:lnSpc>
            </a:pPr>
            <a:r>
              <a:rPr lang="en-US" sz="1700" b="1" dirty="0">
                <a:latin typeface="Times New Roman" panose="02020603050405020304" pitchFamily="18" charset="0"/>
                <a:cs typeface="Times New Roman" panose="02020603050405020304" pitchFamily="18" charset="0"/>
              </a:rPr>
              <a:t>Total Profit :</a:t>
            </a:r>
          </a:p>
          <a:p>
            <a:pPr>
              <a:lnSpc>
                <a:spcPct val="120000"/>
              </a:lnSpc>
            </a:pPr>
            <a:r>
              <a:rPr lang="en-US" sz="1700" dirty="0">
                <a:latin typeface="Times New Roman" panose="02020603050405020304" pitchFamily="18" charset="0"/>
                <a:cs typeface="Times New Roman" panose="02020603050405020304" pitchFamily="18" charset="0"/>
              </a:rPr>
              <a:t>Total profit earned = 12,080,883Calculated using (Sales Amount – Cost</a:t>
            </a:r>
          </a:p>
          <a:p>
            <a:pPr>
              <a:lnSpc>
                <a:spcPct val="120000"/>
              </a:lnSpc>
            </a:pPr>
            <a:r>
              <a:rPr lang="en-US" sz="1700" dirty="0">
                <a:latin typeface="Times New Roman" panose="02020603050405020304" pitchFamily="18" charset="0"/>
                <a:cs typeface="Times New Roman" panose="02020603050405020304" pitchFamily="18" charset="0"/>
              </a:rPr>
              <a:t>These KPIs help analyze business performance and growth trends.</a:t>
            </a:r>
            <a:endParaRPr lang="en-IN" sz="17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25A893C-A792-5B3D-0BD4-924AE7FE16F3}"/>
              </a:ext>
            </a:extLst>
          </p:cNvPr>
          <p:cNvPicPr>
            <a:picLocks noChangeAspect="1"/>
          </p:cNvPicPr>
          <p:nvPr/>
        </p:nvPicPr>
        <p:blipFill>
          <a:blip r:embed="rId2"/>
          <a:stretch>
            <a:fillRect/>
          </a:stretch>
        </p:blipFill>
        <p:spPr>
          <a:xfrm>
            <a:off x="5434655" y="1298886"/>
            <a:ext cx="3680886" cy="1302418"/>
          </a:xfrm>
          <a:prstGeom prst="rect">
            <a:avLst/>
          </a:prstGeom>
        </p:spPr>
      </p:pic>
      <p:pic>
        <p:nvPicPr>
          <p:cNvPr id="7" name="Content Placeholder 5">
            <a:extLst>
              <a:ext uri="{FF2B5EF4-FFF2-40B4-BE49-F238E27FC236}">
                <a16:creationId xmlns:a16="http://schemas.microsoft.com/office/drawing/2014/main" id="{700C323C-E495-9886-7A73-396F10674048}"/>
              </a:ext>
            </a:extLst>
          </p:cNvPr>
          <p:cNvPicPr>
            <a:picLocks noChangeAspect="1"/>
          </p:cNvPicPr>
          <p:nvPr/>
        </p:nvPicPr>
        <p:blipFill>
          <a:blip r:embed="rId3"/>
          <a:stretch>
            <a:fillRect/>
          </a:stretch>
        </p:blipFill>
        <p:spPr>
          <a:xfrm>
            <a:off x="7671326" y="2754987"/>
            <a:ext cx="3680886" cy="1302418"/>
          </a:xfrm>
          <a:prstGeom prst="rect">
            <a:avLst/>
          </a:prstGeom>
        </p:spPr>
      </p:pic>
      <p:pic>
        <p:nvPicPr>
          <p:cNvPr id="8" name="Picture 7">
            <a:extLst>
              <a:ext uri="{FF2B5EF4-FFF2-40B4-BE49-F238E27FC236}">
                <a16:creationId xmlns:a16="http://schemas.microsoft.com/office/drawing/2014/main" id="{21EB3287-5CFA-C365-5B0F-2887DA71A9A6}"/>
              </a:ext>
            </a:extLst>
          </p:cNvPr>
          <p:cNvPicPr>
            <a:picLocks noChangeAspect="1"/>
          </p:cNvPicPr>
          <p:nvPr/>
        </p:nvPicPr>
        <p:blipFill>
          <a:blip r:embed="rId4"/>
          <a:stretch>
            <a:fillRect/>
          </a:stretch>
        </p:blipFill>
        <p:spPr>
          <a:xfrm>
            <a:off x="5434655" y="4211088"/>
            <a:ext cx="3680886" cy="1302418"/>
          </a:xfrm>
          <a:prstGeom prst="rect">
            <a:avLst/>
          </a:prstGeom>
        </p:spPr>
      </p:pic>
      <p:sp>
        <p:nvSpPr>
          <p:cNvPr id="9" name="Slide Number Placeholder 8">
            <a:extLst>
              <a:ext uri="{FF2B5EF4-FFF2-40B4-BE49-F238E27FC236}">
                <a16:creationId xmlns:a16="http://schemas.microsoft.com/office/drawing/2014/main" id="{429D09B9-8176-95C4-A71D-6A1E0A832AF9}"/>
              </a:ext>
            </a:extLst>
          </p:cNvPr>
          <p:cNvSpPr>
            <a:spLocks noGrp="1"/>
          </p:cNvSpPr>
          <p:nvPr>
            <p:ph type="sldNum" sz="quarter" idx="12"/>
          </p:nvPr>
        </p:nvSpPr>
        <p:spPr/>
        <p:txBody>
          <a:bodyPr/>
          <a:lstStyle/>
          <a:p>
            <a:fld id="{3B06BDC6-2085-4652-A5CE-18954849DE2F}" type="slidenum">
              <a:rPr lang="en-IN" smtClean="0"/>
              <a:t>10</a:t>
            </a:fld>
            <a:endParaRPr lang="en-IN"/>
          </a:p>
        </p:txBody>
      </p:sp>
    </p:spTree>
    <p:extLst>
      <p:ext uri="{BB962C8B-B14F-4D97-AF65-F5344CB8AC3E}">
        <p14:creationId xmlns:p14="http://schemas.microsoft.com/office/powerpoint/2010/main" val="3254043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42076-5E0B-485E-CA32-C46073C1B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A464D-DCBC-DDC8-6CB9-5E011D5EE3BA}"/>
              </a:ext>
            </a:extLst>
          </p:cNvPr>
          <p:cNvSpPr>
            <a:spLocks noGrp="1"/>
          </p:cNvSpPr>
          <p:nvPr>
            <p:ph type="title"/>
          </p:nvPr>
        </p:nvSpPr>
        <p:spPr>
          <a:xfrm>
            <a:off x="839788" y="457200"/>
            <a:ext cx="10619149" cy="1302152"/>
          </a:xfrm>
        </p:spPr>
        <p:txBody>
          <a:bodyPr>
            <a:noAutofit/>
          </a:bodyPr>
          <a:lstStyle/>
          <a:p>
            <a:pPr algn="ctr"/>
            <a:r>
              <a:rPr lang="en-US" sz="4000" b="1" dirty="0">
                <a:latin typeface="Times New Roman" panose="02020603050405020304" pitchFamily="18" charset="0"/>
                <a:cs typeface="Times New Roman" panose="02020603050405020304" pitchFamily="18" charset="0"/>
              </a:rPr>
              <a:t>DASHBOARD OVERVIEW</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(TABLEAU)</a:t>
            </a:r>
            <a:endParaRPr lang="en-IN" sz="4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51A72FF5-7E70-A45C-B03D-0221D825CD05}"/>
              </a:ext>
            </a:extLst>
          </p:cNvPr>
          <p:cNvSpPr>
            <a:spLocks noGrp="1"/>
          </p:cNvSpPr>
          <p:nvPr>
            <p:ph type="body" sz="half" idx="2"/>
          </p:nvPr>
        </p:nvSpPr>
        <p:spPr>
          <a:xfrm>
            <a:off x="481378" y="1759352"/>
            <a:ext cx="5305964" cy="4272280"/>
          </a:xfrm>
        </p:spPr>
        <p:txBody>
          <a:bodyPr>
            <a:noAutofit/>
          </a:bodyPr>
          <a:lstStyle/>
          <a:p>
            <a:r>
              <a:rPr lang="en-US" dirty="0">
                <a:latin typeface="Times New Roman" panose="02020603050405020304" pitchFamily="18" charset="0"/>
                <a:cs typeface="Times New Roman" panose="02020603050405020304" pitchFamily="18" charset="0"/>
              </a:rPr>
              <a:t>The Tableau dashboard was developed to effectively visualize and analyze Adventure Works sales data through interactive charts and filters. It provides clear insights into sales trends, product performance, and regional distribution, enabling better business understanding and decision-making</a:t>
            </a:r>
          </a:p>
          <a:p>
            <a:r>
              <a:rPr lang="en-US" b="1" dirty="0">
                <a:latin typeface="Times New Roman" panose="02020603050405020304" pitchFamily="18" charset="0"/>
                <a:cs typeface="Times New Roman" panose="02020603050405020304" pitchFamily="18" charset="0"/>
              </a:rPr>
              <a:t>Key Insights:</a:t>
            </a:r>
          </a:p>
          <a:p>
            <a:r>
              <a:rPr lang="en-US" dirty="0">
                <a:latin typeface="Times New Roman" panose="02020603050405020304" pitchFamily="18" charset="0"/>
                <a:cs typeface="Times New Roman" panose="02020603050405020304" pitchFamily="18" charset="0"/>
              </a:rPr>
              <a:t>Sales demonstrate a consistent upward trend from 2010 to 2013, indicating business growth</a:t>
            </a:r>
          </a:p>
          <a:p>
            <a:r>
              <a:rPr lang="en-US" dirty="0">
                <a:latin typeface="Times New Roman" panose="02020603050405020304" pitchFamily="18" charset="0"/>
                <a:cs typeface="Times New Roman" panose="02020603050405020304" pitchFamily="18" charset="0"/>
              </a:rPr>
              <a:t>The year 2013 recorded the highest overall sales performance</a:t>
            </a:r>
          </a:p>
          <a:p>
            <a:r>
              <a:rPr lang="en-US" dirty="0">
                <a:latin typeface="Times New Roman" panose="02020603050405020304" pitchFamily="18" charset="0"/>
                <a:cs typeface="Times New Roman" panose="02020603050405020304" pitchFamily="18" charset="0"/>
              </a:rPr>
              <a:t>The Mountain Bike category is the leading contributor to total revenue</a:t>
            </a:r>
          </a:p>
          <a:p>
            <a:r>
              <a:rPr lang="en-US" dirty="0">
                <a:latin typeface="Times New Roman" panose="02020603050405020304" pitchFamily="18" charset="0"/>
                <a:cs typeface="Times New Roman" panose="02020603050405020304" pitchFamily="18" charset="0"/>
              </a:rPr>
              <a:t>North America and Europe represent the primary revenue-generating regions</a:t>
            </a:r>
          </a:p>
          <a:p>
            <a:r>
              <a:rPr lang="en-US" dirty="0">
                <a:latin typeface="Times New Roman" panose="02020603050405020304" pitchFamily="18" charset="0"/>
                <a:cs typeface="Times New Roman" panose="02020603050405020304" pitchFamily="18" charset="0"/>
              </a:rPr>
              <a:t>Sales exhibit seasonal variations across different months, highlighting demand fluctuations</a:t>
            </a:r>
          </a:p>
        </p:txBody>
      </p:sp>
      <p:pic>
        <p:nvPicPr>
          <p:cNvPr id="5" name="Picture 4">
            <a:extLst>
              <a:ext uri="{FF2B5EF4-FFF2-40B4-BE49-F238E27FC236}">
                <a16:creationId xmlns:a16="http://schemas.microsoft.com/office/drawing/2014/main" id="{B47D61A1-5718-4452-AED4-C0CE2256B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3280" y="2350368"/>
            <a:ext cx="5787342" cy="2748281"/>
          </a:xfrm>
          <a:prstGeom prst="roundRect">
            <a:avLst>
              <a:gd name="adj" fmla="val 4167"/>
            </a:avLst>
          </a:prstGeom>
          <a:solidFill>
            <a:srgbClr val="FFFFFF"/>
          </a:solidFill>
          <a:ln w="34925" cap="sq">
            <a:solidFill>
              <a:srgbClr val="FFFFFF"/>
            </a:solidFill>
            <a:miter lim="800000"/>
          </a:ln>
          <a:effectLst>
            <a:outerShdw blurRad="317500" dir="2700000" algn="ctr">
              <a:srgbClr val="000000">
                <a:alpha val="43000"/>
              </a:srgbClr>
            </a:outerShdw>
            <a:reflection blurRad="12700" stA="28000" endPos="28000" dist="5000" dir="5400000" sy="-100000" algn="bl" rotWithShape="0"/>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pic>
      <p:sp>
        <p:nvSpPr>
          <p:cNvPr id="6" name="Slide Number Placeholder 5">
            <a:extLst>
              <a:ext uri="{FF2B5EF4-FFF2-40B4-BE49-F238E27FC236}">
                <a16:creationId xmlns:a16="http://schemas.microsoft.com/office/drawing/2014/main" id="{277A543F-1C18-E88E-4148-D91041E7A0E6}"/>
              </a:ext>
            </a:extLst>
          </p:cNvPr>
          <p:cNvSpPr>
            <a:spLocks noGrp="1"/>
          </p:cNvSpPr>
          <p:nvPr>
            <p:ph type="sldNum" sz="quarter" idx="12"/>
          </p:nvPr>
        </p:nvSpPr>
        <p:spPr/>
        <p:txBody>
          <a:bodyPr/>
          <a:lstStyle/>
          <a:p>
            <a:fld id="{3B06BDC6-2085-4652-A5CE-18954849DE2F}" type="slidenum">
              <a:rPr lang="en-IN" smtClean="0"/>
              <a:t>11</a:t>
            </a:fld>
            <a:endParaRPr lang="en-IN"/>
          </a:p>
        </p:txBody>
      </p:sp>
    </p:spTree>
    <p:extLst>
      <p:ext uri="{BB962C8B-B14F-4D97-AF65-F5344CB8AC3E}">
        <p14:creationId xmlns:p14="http://schemas.microsoft.com/office/powerpoint/2010/main" val="786759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881E9-8781-0F5D-1CE0-E14ED33BA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4EC2A-7130-56F1-FABC-E463B82A1873}"/>
              </a:ext>
            </a:extLst>
          </p:cNvPr>
          <p:cNvSpPr>
            <a:spLocks noGrp="1"/>
          </p:cNvSpPr>
          <p:nvPr>
            <p:ph type="title"/>
          </p:nvPr>
        </p:nvSpPr>
        <p:spPr>
          <a:xfrm>
            <a:off x="839788" y="457200"/>
            <a:ext cx="10619149" cy="1302152"/>
          </a:xfrm>
        </p:spPr>
        <p:txBody>
          <a:bodyPr>
            <a:noAutofit/>
          </a:bodyPr>
          <a:lstStyle/>
          <a:p>
            <a:pPr algn="ctr"/>
            <a:r>
              <a:rPr lang="en-US" sz="4000" b="1" dirty="0">
                <a:latin typeface="Times New Roman" panose="02020603050405020304" pitchFamily="18" charset="0"/>
                <a:cs typeface="Times New Roman" panose="02020603050405020304" pitchFamily="18" charset="0"/>
              </a:rPr>
              <a:t>DASHBOARD OVERVIEW</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(POWER BI)</a:t>
            </a:r>
            <a:endParaRPr lang="en-IN" sz="4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B17E2B8-1B76-7A6C-B8B3-BD03A95681CB}"/>
              </a:ext>
            </a:extLst>
          </p:cNvPr>
          <p:cNvSpPr>
            <a:spLocks noGrp="1"/>
          </p:cNvSpPr>
          <p:nvPr>
            <p:ph type="body" sz="half" idx="2"/>
          </p:nvPr>
        </p:nvSpPr>
        <p:spPr>
          <a:xfrm>
            <a:off x="733063" y="1860149"/>
            <a:ext cx="5305964" cy="4272280"/>
          </a:xfrm>
        </p:spPr>
        <p:txBody>
          <a:bodyPr>
            <a:noAutofit/>
          </a:bodyPr>
          <a:lstStyle/>
          <a:p>
            <a:r>
              <a:rPr lang="en-US" sz="1500" dirty="0">
                <a:latin typeface="Times New Roman" panose="02020603050405020304" pitchFamily="18" charset="0"/>
                <a:cs typeface="Times New Roman" panose="02020603050405020304" pitchFamily="18" charset="0"/>
              </a:rPr>
              <a:t>This dashboard analyzes Adventure Works sales data using interactive visuals and KPIs to track performance, trends, and business insights</a:t>
            </a:r>
          </a:p>
          <a:p>
            <a:r>
              <a:rPr lang="en-US" sz="1500" b="1" dirty="0">
                <a:latin typeface="Times New Roman" panose="02020603050405020304" pitchFamily="18" charset="0"/>
                <a:cs typeface="Times New Roman" panose="02020603050405020304" pitchFamily="18" charset="0"/>
              </a:rPr>
              <a:t>Key KPIs:</a:t>
            </a:r>
          </a:p>
          <a:p>
            <a:r>
              <a:rPr lang="en-US" sz="1500" dirty="0">
                <a:latin typeface="Times New Roman" panose="02020603050405020304" pitchFamily="18" charset="0"/>
                <a:cs typeface="Times New Roman" panose="02020603050405020304" pitchFamily="18" charset="0"/>
              </a:rPr>
              <a:t>Total Sales: ₹29.36M</a:t>
            </a:r>
          </a:p>
          <a:p>
            <a:r>
              <a:rPr lang="en-US" sz="1500" dirty="0">
                <a:latin typeface="Times New Roman" panose="02020603050405020304" pitchFamily="18" charset="0"/>
                <a:cs typeface="Times New Roman" panose="02020603050405020304" pitchFamily="18" charset="0"/>
              </a:rPr>
              <a:t>Total Profit: ₹12.08M</a:t>
            </a:r>
          </a:p>
          <a:p>
            <a:r>
              <a:rPr lang="en-US" sz="1500" dirty="0">
                <a:latin typeface="Times New Roman" panose="02020603050405020304" pitchFamily="18" charset="0"/>
                <a:cs typeface="Times New Roman" panose="02020603050405020304" pitchFamily="18" charset="0"/>
              </a:rPr>
              <a:t>Total Cost: ₹17.27M</a:t>
            </a:r>
          </a:p>
          <a:p>
            <a:r>
              <a:rPr lang="en-US" sz="1500" dirty="0">
                <a:latin typeface="Times New Roman" panose="02020603050405020304" pitchFamily="18" charset="0"/>
                <a:cs typeface="Times New Roman" panose="02020603050405020304" pitchFamily="18" charset="0"/>
              </a:rPr>
              <a:t>Total Orders: 60,398</a:t>
            </a:r>
          </a:p>
          <a:p>
            <a:r>
              <a:rPr lang="en-US" sz="1500" b="1" dirty="0">
                <a:latin typeface="Times New Roman" panose="02020603050405020304" pitchFamily="18" charset="0"/>
                <a:cs typeface="Times New Roman" panose="02020603050405020304" pitchFamily="18" charset="0"/>
              </a:rPr>
              <a:t>Key Insights:</a:t>
            </a:r>
          </a:p>
          <a:p>
            <a:r>
              <a:rPr lang="en-US" sz="1500" dirty="0">
                <a:latin typeface="Times New Roman" panose="02020603050405020304" pitchFamily="18" charset="0"/>
                <a:cs typeface="Times New Roman" panose="02020603050405020304" pitchFamily="18" charset="0"/>
              </a:rPr>
              <a:t>Sales peaked in 2013, showing strong growth</a:t>
            </a:r>
          </a:p>
          <a:p>
            <a:r>
              <a:rPr lang="en-US" sz="1500" dirty="0">
                <a:latin typeface="Times New Roman" panose="02020603050405020304" pitchFamily="18" charset="0"/>
                <a:cs typeface="Times New Roman" panose="02020603050405020304" pitchFamily="18" charset="0"/>
              </a:rPr>
              <a:t>December and Q4 recorded the highest sales</a:t>
            </a:r>
          </a:p>
          <a:p>
            <a:r>
              <a:rPr lang="en-US" sz="1500" dirty="0">
                <a:latin typeface="Times New Roman" panose="02020603050405020304" pitchFamily="18" charset="0"/>
                <a:cs typeface="Times New Roman" panose="02020603050405020304" pitchFamily="18" charset="0"/>
              </a:rPr>
              <a:t>Mountain-200 products are top revenue drivers</a:t>
            </a:r>
          </a:p>
          <a:p>
            <a:r>
              <a:rPr lang="en-US" sz="1500" dirty="0">
                <a:latin typeface="Times New Roman" panose="02020603050405020304" pitchFamily="18" charset="0"/>
                <a:cs typeface="Times New Roman" panose="02020603050405020304" pitchFamily="18" charset="0"/>
              </a:rPr>
              <a:t>Higher profitability observed due to strong sales vs cost gap</a:t>
            </a:r>
          </a:p>
          <a:p>
            <a:r>
              <a:rPr lang="en-US" sz="1500" dirty="0">
                <a:latin typeface="Times New Roman" panose="02020603050405020304" pitchFamily="18" charset="0"/>
                <a:cs typeface="Times New Roman" panose="02020603050405020304" pitchFamily="18" charset="0"/>
              </a:rPr>
              <a:t>North America and Europe are key markets</a:t>
            </a:r>
          </a:p>
        </p:txBody>
      </p:sp>
      <p:pic>
        <p:nvPicPr>
          <p:cNvPr id="6" name="Picture 5">
            <a:extLst>
              <a:ext uri="{FF2B5EF4-FFF2-40B4-BE49-F238E27FC236}">
                <a16:creationId xmlns:a16="http://schemas.microsoft.com/office/drawing/2014/main" id="{86618F6C-0285-D65B-704C-30AD5C5513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609449"/>
            <a:ext cx="5362937" cy="277368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7" name="Slide Number Placeholder 6">
            <a:extLst>
              <a:ext uri="{FF2B5EF4-FFF2-40B4-BE49-F238E27FC236}">
                <a16:creationId xmlns:a16="http://schemas.microsoft.com/office/drawing/2014/main" id="{7BA9343A-738D-FE8C-485F-F7866B481F65}"/>
              </a:ext>
            </a:extLst>
          </p:cNvPr>
          <p:cNvSpPr>
            <a:spLocks noGrp="1"/>
          </p:cNvSpPr>
          <p:nvPr>
            <p:ph type="sldNum" sz="quarter" idx="12"/>
          </p:nvPr>
        </p:nvSpPr>
        <p:spPr/>
        <p:txBody>
          <a:bodyPr/>
          <a:lstStyle/>
          <a:p>
            <a:fld id="{3B06BDC6-2085-4652-A5CE-18954849DE2F}" type="slidenum">
              <a:rPr lang="en-IN" smtClean="0"/>
              <a:t>12</a:t>
            </a:fld>
            <a:endParaRPr lang="en-IN"/>
          </a:p>
        </p:txBody>
      </p:sp>
    </p:spTree>
    <p:extLst>
      <p:ext uri="{BB962C8B-B14F-4D97-AF65-F5344CB8AC3E}">
        <p14:creationId xmlns:p14="http://schemas.microsoft.com/office/powerpoint/2010/main" val="2538695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7B942-F474-8AFF-286C-819FD6EDA54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KEY PERFORMANCE INDICATORS AND SALES ANALYSIS</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8558BC6-96B9-A6D0-D21B-3510BE634492}"/>
              </a:ext>
            </a:extLst>
          </p:cNvPr>
          <p:cNvSpPr>
            <a:spLocks noGrp="1"/>
          </p:cNvSpPr>
          <p:nvPr>
            <p:ph sz="half" idx="2"/>
          </p:nvPr>
        </p:nvSpPr>
        <p:spPr>
          <a:xfrm>
            <a:off x="6172202" y="2665412"/>
            <a:ext cx="5181600" cy="2411095"/>
          </a:xfrm>
        </p:spPr>
        <p:txBody>
          <a:bodyPr/>
          <a:lstStyle/>
          <a:p>
            <a:pPr marL="0" indent="0">
              <a:buNone/>
            </a:pPr>
            <a:r>
              <a:rPr lang="en-US" sz="2000" dirty="0">
                <a:latin typeface="Times New Roman" panose="02020603050405020304" pitchFamily="18" charset="0"/>
                <a:cs typeface="Times New Roman" panose="02020603050405020304" pitchFamily="18" charset="0"/>
              </a:rPr>
              <a:t>Key findings from sales :</a:t>
            </a:r>
          </a:p>
          <a:p>
            <a:r>
              <a:rPr lang="en-US" sz="2000" dirty="0">
                <a:latin typeface="Times New Roman" panose="02020603050405020304" pitchFamily="18" charset="0"/>
                <a:cs typeface="Times New Roman" panose="02020603050405020304" pitchFamily="18" charset="0"/>
              </a:rPr>
              <a:t>Sales increased steadily from 2010 to 2013</a:t>
            </a:r>
          </a:p>
          <a:p>
            <a:r>
              <a:rPr lang="en-US" sz="2000" dirty="0">
                <a:latin typeface="Times New Roman" panose="02020603050405020304" pitchFamily="18" charset="0"/>
                <a:cs typeface="Times New Roman" panose="02020603050405020304" pitchFamily="18" charset="0"/>
              </a:rPr>
              <a:t>2013 recorded the highest sales</a:t>
            </a:r>
          </a:p>
          <a:p>
            <a:r>
              <a:rPr lang="en-US" sz="2000" dirty="0">
                <a:latin typeface="Times New Roman" panose="02020603050405020304" pitchFamily="18" charset="0"/>
                <a:cs typeface="Times New Roman" panose="02020603050405020304" pitchFamily="18" charset="0"/>
              </a:rPr>
              <a:t>Sales dropped in 2014</a:t>
            </a:r>
          </a:p>
          <a:p>
            <a:pPr marL="0" indent="0">
              <a:buNone/>
            </a:pPr>
            <a:r>
              <a:rPr lang="en-US" sz="2000" dirty="0">
                <a:latin typeface="Times New Roman" panose="02020603050405020304" pitchFamily="18" charset="0"/>
                <a:cs typeface="Times New Roman" panose="02020603050405020304" pitchFamily="18" charset="0"/>
              </a:rPr>
              <a:t>This indicates strong growth followed by a decline.</a:t>
            </a:r>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5" name="Content Placeholder 4">
            <a:extLst>
              <a:ext uri="{FF2B5EF4-FFF2-40B4-BE49-F238E27FC236}">
                <a16:creationId xmlns:a16="http://schemas.microsoft.com/office/drawing/2014/main" id="{A7C34E3F-E65F-0067-9E43-39A004E559B3}"/>
              </a:ext>
            </a:extLst>
          </p:cNvPr>
          <p:cNvGraphicFramePr>
            <a:graphicFrameLocks noGrp="1"/>
          </p:cNvGraphicFramePr>
          <p:nvPr>
            <p:ph sz="half" idx="1"/>
            <p:extLst>
              <p:ext uri="{D42A27DB-BD31-4B8C-83A1-F6EECF244321}">
                <p14:modId xmlns:p14="http://schemas.microsoft.com/office/powerpoint/2010/main" val="2997754770"/>
              </p:ext>
            </p:extLst>
          </p:nvPr>
        </p:nvGraphicFramePr>
        <p:xfrm>
          <a:off x="838200" y="2042160"/>
          <a:ext cx="518160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a:extLst>
              <a:ext uri="{FF2B5EF4-FFF2-40B4-BE49-F238E27FC236}">
                <a16:creationId xmlns:a16="http://schemas.microsoft.com/office/drawing/2014/main" id="{303B3C51-1B1A-DE81-F5BC-38106949F9BC}"/>
              </a:ext>
            </a:extLst>
          </p:cNvPr>
          <p:cNvSpPr>
            <a:spLocks noGrp="1"/>
          </p:cNvSpPr>
          <p:nvPr>
            <p:ph type="sldNum" sz="quarter" idx="12"/>
          </p:nvPr>
        </p:nvSpPr>
        <p:spPr/>
        <p:txBody>
          <a:bodyPr/>
          <a:lstStyle/>
          <a:p>
            <a:fld id="{3B06BDC6-2085-4652-A5CE-18954849DE2F}" type="slidenum">
              <a:rPr lang="en-IN" smtClean="0"/>
              <a:t>13</a:t>
            </a:fld>
            <a:endParaRPr lang="en-IN"/>
          </a:p>
        </p:txBody>
      </p:sp>
    </p:spTree>
    <p:extLst>
      <p:ext uri="{BB962C8B-B14F-4D97-AF65-F5344CB8AC3E}">
        <p14:creationId xmlns:p14="http://schemas.microsoft.com/office/powerpoint/2010/main" val="2301671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F22C-B2F3-83E9-8C11-9D87A09ACE78}"/>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PRODUCT PERFORMANCE AND REGIONAL ANALYSIS</a:t>
            </a:r>
          </a:p>
        </p:txBody>
      </p:sp>
      <p:sp>
        <p:nvSpPr>
          <p:cNvPr id="3" name="Content Placeholder 2">
            <a:extLst>
              <a:ext uri="{FF2B5EF4-FFF2-40B4-BE49-F238E27FC236}">
                <a16:creationId xmlns:a16="http://schemas.microsoft.com/office/drawing/2014/main" id="{DC3D3DF9-5187-1313-836C-466CE14AFD85}"/>
              </a:ext>
            </a:extLst>
          </p:cNvPr>
          <p:cNvSpPr>
            <a:spLocks noGrp="1"/>
          </p:cNvSpPr>
          <p:nvPr>
            <p:ph sz="half"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Top selling products: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Mountain-200 Black</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Mountain-200 Silver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Road-150 Series</a:t>
            </a:r>
          </a:p>
          <a:p>
            <a:pPr marL="0" indent="0">
              <a:buNone/>
            </a:pPr>
            <a:r>
              <a:rPr lang="en-US" sz="2000" dirty="0">
                <a:latin typeface="Times New Roman" panose="02020603050405020304" pitchFamily="18" charset="0"/>
                <a:cs typeface="Times New Roman" panose="02020603050405020304" pitchFamily="18" charset="0"/>
              </a:rPr>
              <a:t>Observation: Mountain bike category contributes the highest sales.</a:t>
            </a: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3096C96-031F-531B-7294-50DE537068CC}"/>
              </a:ext>
            </a:extLst>
          </p:cNvPr>
          <p:cNvSpPr>
            <a:spLocks noGrp="1"/>
          </p:cNvSpPr>
          <p:nvPr>
            <p:ph sz="half" idx="2"/>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Major sales regions include:</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North America</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Europe</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Australia</a:t>
            </a:r>
          </a:p>
          <a:p>
            <a:pPr marL="0" indent="0">
              <a:buNone/>
            </a:pPr>
            <a:r>
              <a:rPr lang="en-US" sz="2000" dirty="0">
                <a:latin typeface="Times New Roman" panose="02020603050405020304" pitchFamily="18" charset="0"/>
                <a:cs typeface="Times New Roman" panose="02020603050405020304" pitchFamily="18" charset="0"/>
              </a:rPr>
              <a:t>Observation: North America shows the highest sales contribution.</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DA53A0D-4F5F-886A-23C7-EDE5AE8C1B3B}"/>
              </a:ext>
            </a:extLst>
          </p:cNvPr>
          <p:cNvSpPr>
            <a:spLocks noGrp="1"/>
          </p:cNvSpPr>
          <p:nvPr>
            <p:ph type="sldNum" sz="quarter" idx="12"/>
          </p:nvPr>
        </p:nvSpPr>
        <p:spPr/>
        <p:txBody>
          <a:bodyPr/>
          <a:lstStyle/>
          <a:p>
            <a:fld id="{3B06BDC6-2085-4652-A5CE-18954849DE2F}" type="slidenum">
              <a:rPr lang="en-IN" smtClean="0"/>
              <a:t>14</a:t>
            </a:fld>
            <a:endParaRPr lang="en-IN"/>
          </a:p>
        </p:txBody>
      </p:sp>
    </p:spTree>
    <p:extLst>
      <p:ext uri="{BB962C8B-B14F-4D97-AF65-F5344CB8AC3E}">
        <p14:creationId xmlns:p14="http://schemas.microsoft.com/office/powerpoint/2010/main" val="2869191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7DF58-BB0F-0A23-7134-766204D6C27E}"/>
              </a:ext>
            </a:extLst>
          </p:cNvPr>
          <p:cNvSpPr>
            <a:spLocks noGrp="1"/>
          </p:cNvSpPr>
          <p:nvPr>
            <p:ph type="title"/>
          </p:nvPr>
        </p:nvSpPr>
        <p:spPr>
          <a:xfrm>
            <a:off x="839788" y="457200"/>
            <a:ext cx="10512424" cy="1290320"/>
          </a:xfrm>
        </p:spPr>
        <p:txBody>
          <a:bodyPr>
            <a:normAutofit/>
          </a:bodyPr>
          <a:lstStyle/>
          <a:p>
            <a:r>
              <a:rPr lang="en-IN" sz="4000" b="1" dirty="0">
                <a:latin typeface="Times New Roman" panose="02020603050405020304" pitchFamily="18" charset="0"/>
                <a:cs typeface="Times New Roman" panose="02020603050405020304" pitchFamily="18" charset="0"/>
              </a:rPr>
              <a:t>OBSERVATION OF THIS PROJECT</a:t>
            </a:r>
          </a:p>
        </p:txBody>
      </p:sp>
      <p:sp>
        <p:nvSpPr>
          <p:cNvPr id="4" name="Text Placeholder 3">
            <a:extLst>
              <a:ext uri="{FF2B5EF4-FFF2-40B4-BE49-F238E27FC236}">
                <a16:creationId xmlns:a16="http://schemas.microsoft.com/office/drawing/2014/main" id="{AA8DE799-20F5-F677-D05D-0723097F5E14}"/>
              </a:ext>
            </a:extLst>
          </p:cNvPr>
          <p:cNvSpPr>
            <a:spLocks noGrp="1"/>
          </p:cNvSpPr>
          <p:nvPr>
            <p:ph type="body" sz="half" idx="2"/>
          </p:nvPr>
        </p:nvSpPr>
        <p:spPr>
          <a:xfrm>
            <a:off x="839788" y="2057400"/>
            <a:ext cx="5256212" cy="3811588"/>
          </a:xfrm>
        </p:spPr>
        <p:txBody>
          <a:bodyPr>
            <a:normAutofit/>
          </a:bodyPr>
          <a:lstStyle/>
          <a:p>
            <a:r>
              <a:rPr lang="en-US" sz="1800" b="1" dirty="0">
                <a:latin typeface="Times New Roman" panose="02020603050405020304" pitchFamily="18" charset="0"/>
                <a:cs typeface="Times New Roman" panose="02020603050405020304" pitchFamily="18" charset="0"/>
              </a:rPr>
              <a:t>Key observations from Adventure works project :</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Sales increased significantly until 2013</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Profit margin is strong (around 41%)*</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Mountain bike products generate highest revenue</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Q4 contributes the highest sales</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Some months show lower sales indicating seasonal demand</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Regional sales distribution is uneven</a:t>
            </a:r>
            <a:endParaRPr lang="en-IN" sz="1800" dirty="0">
              <a:latin typeface="Times New Roman" panose="02020603050405020304" pitchFamily="18" charset="0"/>
              <a:cs typeface="Times New Roman" panose="02020603050405020304" pitchFamily="18" charset="0"/>
            </a:endParaRPr>
          </a:p>
          <a:p>
            <a:endParaRPr lang="en-IN" dirty="0"/>
          </a:p>
        </p:txBody>
      </p:sp>
      <p:pic>
        <p:nvPicPr>
          <p:cNvPr id="3076" name="Picture 4" descr="AdventureWorks Cycles - Road-650 Black, 60">
            <a:extLst>
              <a:ext uri="{FF2B5EF4-FFF2-40B4-BE49-F238E27FC236}">
                <a16:creationId xmlns:a16="http://schemas.microsoft.com/office/drawing/2014/main" id="{1F536729-8DBF-298C-6516-D04A72535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7342" y="2672873"/>
            <a:ext cx="4914900" cy="1447713"/>
          </a:xfrm>
          <a:prstGeom prst="rect">
            <a:avLst/>
          </a:prstGeom>
          <a:noFill/>
          <a:ln>
            <a:solidFill>
              <a:schemeClr val="accent1">
                <a:lumMod val="60000"/>
                <a:lumOff val="40000"/>
              </a:schemeClr>
            </a:solidFill>
          </a:ln>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CDD677FA-241D-C6CD-1214-9DFDF26BDD8D}"/>
              </a:ext>
            </a:extLst>
          </p:cNvPr>
          <p:cNvSpPr>
            <a:spLocks noGrp="1"/>
          </p:cNvSpPr>
          <p:nvPr>
            <p:ph type="sldNum" sz="quarter" idx="12"/>
          </p:nvPr>
        </p:nvSpPr>
        <p:spPr/>
        <p:txBody>
          <a:bodyPr/>
          <a:lstStyle/>
          <a:p>
            <a:fld id="{3B06BDC6-2085-4652-A5CE-18954849DE2F}" type="slidenum">
              <a:rPr lang="en-IN" smtClean="0"/>
              <a:t>15</a:t>
            </a:fld>
            <a:endParaRPr lang="en-IN"/>
          </a:p>
        </p:txBody>
      </p:sp>
    </p:spTree>
    <p:extLst>
      <p:ext uri="{BB962C8B-B14F-4D97-AF65-F5344CB8AC3E}">
        <p14:creationId xmlns:p14="http://schemas.microsoft.com/office/powerpoint/2010/main" val="4170375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1DE7C-B083-E538-F5C7-BACE20210779}"/>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SUGGESTIONS</a:t>
            </a:r>
          </a:p>
        </p:txBody>
      </p:sp>
      <p:sp>
        <p:nvSpPr>
          <p:cNvPr id="3" name="Content Placeholder 2">
            <a:extLst>
              <a:ext uri="{FF2B5EF4-FFF2-40B4-BE49-F238E27FC236}">
                <a16:creationId xmlns:a16="http://schemas.microsoft.com/office/drawing/2014/main" id="{359BFD62-F9CF-39C4-0C52-270C1CE7113D}"/>
              </a:ext>
            </a:extLst>
          </p:cNvPr>
          <p:cNvSpPr>
            <a:spLocks noGrp="1"/>
          </p:cNvSpPr>
          <p:nvPr>
            <p:ph idx="1"/>
          </p:nvPr>
        </p:nvSpPr>
        <p:spPr>
          <a:xfrm>
            <a:off x="4877765" y="2196014"/>
            <a:ext cx="6476035" cy="2642203"/>
          </a:xfrm>
        </p:spPr>
        <p:txBody>
          <a:bodyPr>
            <a:normAutofit lnSpcReduction="10000"/>
          </a:bodyPr>
          <a:lstStyle/>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Increase focus on high-performing</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products such as Mountain bikes.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Improve marketing strategies during low-sales months.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Expand business in high-performing regions.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Optimize production cost to improve profit margin.</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Strengthen sales strategies in regions with low performance.</a:t>
            </a:r>
            <a:endParaRPr lang="en-IN" sz="2000" dirty="0">
              <a:latin typeface="Times New Roman" panose="02020603050405020304" pitchFamily="18" charset="0"/>
              <a:cs typeface="Times New Roman" panose="02020603050405020304" pitchFamily="18" charset="0"/>
            </a:endParaRPr>
          </a:p>
        </p:txBody>
      </p:sp>
      <p:pic>
        <p:nvPicPr>
          <p:cNvPr id="4" name="Picture 2" descr="1,428 Suggestion Box Stock Photos - Free &amp; Royalty-Free Stock Photos from  Dreamstime">
            <a:extLst>
              <a:ext uri="{FF2B5EF4-FFF2-40B4-BE49-F238E27FC236}">
                <a16:creationId xmlns:a16="http://schemas.microsoft.com/office/drawing/2014/main" id="{5D1757AF-67EA-ABD3-3D63-CCF357B39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59794"/>
            <a:ext cx="3620947" cy="2538412"/>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C6D7319E-EE89-0A8E-6DF0-A1AFC5B14041}"/>
              </a:ext>
            </a:extLst>
          </p:cNvPr>
          <p:cNvSpPr>
            <a:spLocks noGrp="1"/>
          </p:cNvSpPr>
          <p:nvPr>
            <p:ph type="sldNum" sz="quarter" idx="12"/>
          </p:nvPr>
        </p:nvSpPr>
        <p:spPr/>
        <p:txBody>
          <a:bodyPr/>
          <a:lstStyle/>
          <a:p>
            <a:fld id="{3B06BDC6-2085-4652-A5CE-18954849DE2F}" type="slidenum">
              <a:rPr lang="en-IN" smtClean="0"/>
              <a:t>16</a:t>
            </a:fld>
            <a:endParaRPr lang="en-IN"/>
          </a:p>
        </p:txBody>
      </p:sp>
    </p:spTree>
    <p:extLst>
      <p:ext uri="{BB962C8B-B14F-4D97-AF65-F5344CB8AC3E}">
        <p14:creationId xmlns:p14="http://schemas.microsoft.com/office/powerpoint/2010/main" val="910518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2D21F-85CA-6D7C-389C-1F8EBA7A5C78}"/>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1078602-2E5A-75CB-3A9E-A439A1326EF6}"/>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Adventure Works dashboard analysis provides valuable insights into sales performance, profit trends, and customer demand.</a:t>
            </a:r>
          </a:p>
          <a:p>
            <a:pPr marL="0" indent="0">
              <a:buNone/>
            </a:pPr>
            <a:r>
              <a:rPr lang="en-US" sz="2000" dirty="0">
                <a:latin typeface="Times New Roman" panose="02020603050405020304" pitchFamily="18" charset="0"/>
                <a:cs typeface="Times New Roman" panose="02020603050405020304" pitchFamily="18" charset="0"/>
              </a:rPr>
              <a:t>The dashboards created using Excel, Tableau, and Power BI help visualize data effectively and support better business decision-making.</a:t>
            </a:r>
          </a:p>
          <a:p>
            <a:pPr marL="0" indent="0">
              <a:buNone/>
            </a:pPr>
            <a:r>
              <a:rPr lang="en-US" sz="2000" dirty="0">
                <a:latin typeface="Times New Roman" panose="02020603050405020304" pitchFamily="18" charset="0"/>
                <a:cs typeface="Times New Roman" panose="02020603050405020304" pitchFamily="18" charset="0"/>
              </a:rPr>
              <a:t>Overall, Adventure Works shows strong profitability and growth potential if the company focuses on product strategy, cost management, and regional expansion.</a:t>
            </a:r>
            <a:endParaRPr lang="en-IN"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5652429-3DE2-AC6C-C7BB-8CC1FBF995B9}"/>
              </a:ext>
            </a:extLst>
          </p:cNvPr>
          <p:cNvSpPr>
            <a:spLocks noGrp="1"/>
          </p:cNvSpPr>
          <p:nvPr>
            <p:ph type="sldNum" sz="quarter" idx="12"/>
          </p:nvPr>
        </p:nvSpPr>
        <p:spPr/>
        <p:txBody>
          <a:bodyPr/>
          <a:lstStyle/>
          <a:p>
            <a:fld id="{3B06BDC6-2085-4652-A5CE-18954849DE2F}" type="slidenum">
              <a:rPr lang="en-IN" smtClean="0"/>
              <a:t>17</a:t>
            </a:fld>
            <a:endParaRPr lang="en-IN"/>
          </a:p>
        </p:txBody>
      </p:sp>
    </p:spTree>
    <p:extLst>
      <p:ext uri="{BB962C8B-B14F-4D97-AF65-F5344CB8AC3E}">
        <p14:creationId xmlns:p14="http://schemas.microsoft.com/office/powerpoint/2010/main" val="3760252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ark floral leaves thank you card background | Premium Vector">
            <a:extLst>
              <a:ext uri="{FF2B5EF4-FFF2-40B4-BE49-F238E27FC236}">
                <a16:creationId xmlns:a16="http://schemas.microsoft.com/office/drawing/2014/main" id="{66964F84-8636-A029-F3D6-7D03A0C411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876"/>
            <a:ext cx="12192000" cy="691587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AB8F6C3A-38D9-D81B-68E4-438B56A67DAD}"/>
              </a:ext>
            </a:extLst>
          </p:cNvPr>
          <p:cNvSpPr>
            <a:spLocks noGrp="1"/>
          </p:cNvSpPr>
          <p:nvPr>
            <p:ph type="sldNum" sz="quarter" idx="12"/>
          </p:nvPr>
        </p:nvSpPr>
        <p:spPr/>
        <p:txBody>
          <a:bodyPr/>
          <a:lstStyle/>
          <a:p>
            <a:fld id="{3B06BDC6-2085-4652-A5CE-18954849DE2F}" type="slidenum">
              <a:rPr lang="en-IN" smtClean="0"/>
              <a:t>18</a:t>
            </a:fld>
            <a:endParaRPr lang="en-IN"/>
          </a:p>
        </p:txBody>
      </p:sp>
    </p:spTree>
    <p:extLst>
      <p:ext uri="{BB962C8B-B14F-4D97-AF65-F5344CB8AC3E}">
        <p14:creationId xmlns:p14="http://schemas.microsoft.com/office/powerpoint/2010/main" val="1946549632"/>
      </p:ext>
    </p:extLst>
  </p:cSld>
  <p:clrMapOvr>
    <a:masterClrMapping/>
  </p:clrMapOvr>
</p:sld>
</file>

<file path=ppt/theme/theme1.xml><?xml version="1.0" encoding="utf-8"?>
<a:theme xmlns:a="http://schemas.openxmlformats.org/drawingml/2006/main" name="Office Theme">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1809</TotalTime>
  <Words>1181</Words>
  <Application>Microsoft Office PowerPoint</Application>
  <PresentationFormat>Widescreen</PresentationFormat>
  <Paragraphs>172</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Courier New</vt:lpstr>
      <vt:lpstr>Times New Roman</vt:lpstr>
      <vt:lpstr>Wingdings</vt:lpstr>
      <vt:lpstr>Office Theme</vt:lpstr>
      <vt:lpstr>PowerPoint Presentation</vt:lpstr>
      <vt:lpstr>COMPANY OVERVIEW</vt:lpstr>
      <vt:lpstr>DATASET OVERVIEW</vt:lpstr>
      <vt:lpstr>OBJECTIVE OF THE STUDY</vt:lpstr>
      <vt:lpstr>Tools &amp; Technologies Used</vt:lpstr>
      <vt:lpstr>DATA PREPARATION</vt:lpstr>
      <vt:lpstr>FUNCTIONS AND CALCULATIONS USED</vt:lpstr>
      <vt:lpstr>PowerPoint Presentation</vt:lpstr>
      <vt:lpstr>DASHBOARD OVERVIEW (EXCEL)</vt:lpstr>
      <vt:lpstr>SQL QUERIES FOR KPI’s</vt:lpstr>
      <vt:lpstr>DASHBOARD OVERVIEW (TABLEAU)</vt:lpstr>
      <vt:lpstr>DASHBOARD OVERVIEW (POWER BI)</vt:lpstr>
      <vt:lpstr>KEY PERFORMANCE INDICATORS AND SALES ANALYSIS</vt:lpstr>
      <vt:lpstr>PRODUCT PERFORMANCE AND REGIONAL ANALYSIS</vt:lpstr>
      <vt:lpstr>OBSERVATION OF THIS PROJECT</vt:lpstr>
      <vt:lpstr>SUGGESTIONS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MADUGULA ROHIT</dc:creator>
  <cp:lastModifiedBy>MADUGULA ROHIT</cp:lastModifiedBy>
  <cp:revision>5</cp:revision>
  <dcterms:created xsi:type="dcterms:W3CDTF">2026-03-18T12:19:09Z</dcterms:created>
  <dcterms:modified xsi:type="dcterms:W3CDTF">2026-03-20T10:31:35Z</dcterms:modified>
</cp:coreProperties>
</file>